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31936" y="813816"/>
            <a:ext cx="658368" cy="658368"/>
          </a:xfrm>
          <a:prstGeom prst="ellipse">
            <a:avLst/>
          </a:prstGeom>
          <a:solidFill>
            <a:srgbClr val="00ACC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31936" y="822960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5" name="Oval 4"/>
          <p:cNvSpPr/>
          <p:nvPr/>
        </p:nvSpPr>
        <p:spPr>
          <a:xfrm>
            <a:off x="9912096" y="1591056"/>
            <a:ext cx="658368" cy="658368"/>
          </a:xfrm>
          <a:prstGeom prst="ellipse">
            <a:avLst/>
          </a:prstGeom>
          <a:solidFill>
            <a:srgbClr val="00ACC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12096" y="1600200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7" name="Oval 6"/>
          <p:cNvSpPr/>
          <p:nvPr/>
        </p:nvSpPr>
        <p:spPr>
          <a:xfrm>
            <a:off x="8906256" y="2688336"/>
            <a:ext cx="658368" cy="658368"/>
          </a:xfrm>
          <a:prstGeom prst="ellipse">
            <a:avLst/>
          </a:prstGeom>
          <a:solidFill>
            <a:srgbClr val="00ACC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06256" y="2697479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9" name="Oval 8"/>
          <p:cNvSpPr/>
          <p:nvPr/>
        </p:nvSpPr>
        <p:spPr>
          <a:xfrm>
            <a:off x="10643616" y="3328416"/>
            <a:ext cx="658368" cy="658368"/>
          </a:xfrm>
          <a:prstGeom prst="ellipse">
            <a:avLst/>
          </a:prstGeom>
          <a:solidFill>
            <a:srgbClr val="00ACC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43616" y="3337560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1" name="Oval 10"/>
          <p:cNvSpPr/>
          <p:nvPr/>
        </p:nvSpPr>
        <p:spPr>
          <a:xfrm>
            <a:off x="7991856" y="3831335"/>
            <a:ext cx="658368" cy="658368"/>
          </a:xfrm>
          <a:prstGeom prst="ellipse">
            <a:avLst/>
          </a:prstGeom>
          <a:solidFill>
            <a:srgbClr val="00ACC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91856" y="3840479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3" name="Oval 12"/>
          <p:cNvSpPr/>
          <p:nvPr/>
        </p:nvSpPr>
        <p:spPr>
          <a:xfrm>
            <a:off x="9820656" y="4654296"/>
            <a:ext cx="658368" cy="658368"/>
          </a:xfrm>
          <a:prstGeom prst="ellipse">
            <a:avLst/>
          </a:prstGeom>
          <a:solidFill>
            <a:srgbClr val="00ACC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20656" y="4663440"/>
            <a:ext cx="658368" cy="6583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61120" y="1143000"/>
            <a:ext cx="1280160" cy="777240"/>
          </a:xfrm>
          <a:prstGeom prst="line">
            <a:avLst/>
          </a:prstGeom>
          <a:ln w="25400">
            <a:solidFill>
              <a:srgbClr val="4DD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9235440" y="1920240"/>
            <a:ext cx="1005840" cy="1097280"/>
          </a:xfrm>
          <a:prstGeom prst="line">
            <a:avLst/>
          </a:prstGeom>
          <a:ln w="25400">
            <a:solidFill>
              <a:srgbClr val="4DD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235440" y="3017520"/>
            <a:ext cx="1737360" cy="640080"/>
          </a:xfrm>
          <a:prstGeom prst="line">
            <a:avLst/>
          </a:prstGeom>
          <a:ln w="25400">
            <a:solidFill>
              <a:srgbClr val="4DD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8321040" y="3017520"/>
            <a:ext cx="914400" cy="1143000"/>
          </a:xfrm>
          <a:prstGeom prst="line">
            <a:avLst/>
          </a:prstGeom>
          <a:ln w="25400">
            <a:solidFill>
              <a:srgbClr val="4DD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321040" y="4160520"/>
            <a:ext cx="1828800" cy="822960"/>
          </a:xfrm>
          <a:prstGeom prst="line">
            <a:avLst/>
          </a:prstGeom>
          <a:ln w="25400">
            <a:solidFill>
              <a:srgbClr val="4DD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0149840" y="3657600"/>
            <a:ext cx="822960" cy="1325880"/>
          </a:xfrm>
          <a:prstGeom prst="line">
            <a:avLst/>
          </a:prstGeom>
          <a:ln w="25400">
            <a:solidFill>
              <a:srgbClr val="4DD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241280" y="1920240"/>
            <a:ext cx="731520" cy="1737360"/>
          </a:xfrm>
          <a:prstGeom prst="line">
            <a:avLst/>
          </a:prstGeom>
          <a:ln w="25400">
            <a:solidFill>
              <a:srgbClr val="4DD0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1051560"/>
            <a:ext cx="722376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>
                <a:solidFill>
                  <a:srgbClr val="FFFFFF"/>
                </a:solidFill>
              </a:rPr>
              <a:t>OPEN SHORTEST PATH FIRST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2148840"/>
            <a:ext cx="63093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B4EBF0"/>
                </a:solidFill>
                <a:latin typeface="Aptos"/>
              </a:defRPr>
            </a:pPr>
            <a:r>
              <a:rPr>
                <a:solidFill>
                  <a:srgbClr val="AAEBF0"/>
                </a:solidFill>
              </a:rPr>
              <a:t>OSPF • Link-State Routing • Dijkstra SPF Algorithm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154680"/>
            <a:ext cx="3931920" cy="347472"/>
          </a:xfrm>
          <a:prstGeom prst="roundRect">
            <a:avLst/>
          </a:prstGeom>
          <a:solidFill>
            <a:srgbClr val="1F39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154680"/>
            <a:ext cx="3931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A0E6E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INTRADOMAIN / INTERIOR GATEWAY PROTOCOL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3886200"/>
            <a:ext cx="6629400" cy="1325880"/>
          </a:xfrm>
          <a:prstGeom prst="roundRect">
            <a:avLst/>
          </a:prstGeom>
          <a:solidFill>
            <a:srgbClr val="183048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" y="3886200"/>
            <a:ext cx="73152" cy="132588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4014215"/>
            <a:ext cx="6309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rPr>
                <a:solidFill>
                  <a:srgbClr val="FFFFFF"/>
                </a:solidFill>
              </a:rPr>
              <a:t>Seminar focus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4453128"/>
            <a:ext cx="63093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Understand OSPF from the idea of link-state routing → cost → LSDB → Dijkstra SPF → OSPF messages → areas, authentication and load balancing.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715000"/>
            <a:ext cx="6583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300" b="0">
                <a:solidFill>
                  <a:srgbClr val="C8DCE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Easy explanation • clear diagrams • packet-format walkthrough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5989320"/>
            <a:ext cx="31089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0">
                <a:solidFill>
                  <a:srgbClr val="96B4C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Computer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1. What will we understand?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ACC1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3520440" cy="1325880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43000"/>
            <a:ext cx="73152" cy="13258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271016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OSPF in one 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709928"/>
            <a:ext cx="3200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t>A router learns the network map, builds a Link-State Database (LSDB), and uses the shortest-path algorithm to choose routes.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43000"/>
            <a:ext cx="3520440" cy="1325880"/>
          </a:xfrm>
          <a:prstGeom prst="roundRect">
            <a:avLst/>
          </a:prstGeom>
          <a:solidFill>
            <a:srgbClr val="E5F7F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143000"/>
            <a:ext cx="73152" cy="132588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271016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Why “Open”?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09928"/>
            <a:ext cx="3200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t>The specification is open and standardized, so equipment from different vendors can implement OSPF.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143000"/>
            <a:ext cx="3520440" cy="13258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143000"/>
            <a:ext cx="73152" cy="1325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271016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Why “Shortest Path First”?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09928"/>
            <a:ext cx="3200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t>OSPF calculates the best paths using the Shortest Path First (SPF) algorithm, based on link costs.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92608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A3440"/>
                </a:solidFill>
                <a:latin typeface="Aptos"/>
              </a:defRPr>
            </a:pPr>
            <a:r>
              <a:t>• OSPF is an intradomain routing protocol (IGP): it works inside one Autonomous System.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A3440"/>
                </a:solidFill>
                <a:latin typeface="Aptos"/>
              </a:defRPr>
            </a:pPr>
            <a:r>
              <a:t>• It is a link-state protocol, unlike RIP which is distance-vector based.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A3440"/>
                </a:solidFill>
                <a:latin typeface="Aptos"/>
              </a:defRPr>
            </a:pPr>
            <a:r>
              <a:t>• Routers share link-state information so every router can build a consistent network map.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800">
                <a:solidFill>
                  <a:srgbClr val="2A3440"/>
                </a:solidFill>
                <a:latin typeface="Aptos"/>
              </a:defRPr>
            </a:pPr>
            <a:r>
              <a:t>• Each router independently calculates its best routes.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5623560"/>
            <a:ext cx="4892040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5623560"/>
            <a:ext cx="48920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KEY IDEA: MAP FIRST → CALCULATE BEST PATH → FORWARD PACKETS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2. Is OSPF an intraconnection protocol?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976D2"/>
                </a:solidFill>
                <a:latin typeface="Aptos"/>
              </a:defRPr>
            </a:pPr>
            <a:r>
              <a:t>CONCEPT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51560"/>
            <a:ext cx="3383280" cy="1417320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051560"/>
            <a:ext cx="73152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179576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Yes — it is intradomain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618488"/>
            <a:ext cx="30632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t>OSPF is an Interior Gateway Protocol (IGP). It routes traffic WITHIN one Autonomous System (AS), such as an organization's network.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051560"/>
            <a:ext cx="3383280" cy="1417320"/>
          </a:xfrm>
          <a:prstGeom prst="roundRect">
            <a:avLst/>
          </a:prstGeom>
          <a:solidFill>
            <a:srgbClr val="E5F7F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051560"/>
            <a:ext cx="73152" cy="141732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179576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Not the same as “Internet-wide”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618488"/>
            <a:ext cx="30632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t>OSPF is not used to choose routes between different Autonomous Systems. BGP is commonly used for interdomain routing.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051560"/>
            <a:ext cx="3383280" cy="14173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051560"/>
            <a:ext cx="73152" cy="1417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1179576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Think of a campus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1618488"/>
            <a:ext cx="30632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t>Inside a university/corporate network, OSPF can connect departments, buildings, data centers and WAN links.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880360"/>
            <a:ext cx="3931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0F1F34"/>
                </a:solidFill>
                <a:latin typeface="Aptos"/>
              </a:defRPr>
            </a:pPr>
            <a:r>
              <a:t>AUTONOMOUS SYSTEM (AS)</a:t>
            </a:r>
          </a:p>
        </p:txBody>
      </p:sp>
      <p:sp>
        <p:nvSpPr>
          <p:cNvPr id="19" name="Oval 18"/>
          <p:cNvSpPr/>
          <p:nvPr/>
        </p:nvSpPr>
        <p:spPr>
          <a:xfrm>
            <a:off x="1444752" y="3547872"/>
            <a:ext cx="768096" cy="768096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4752" y="3557015"/>
            <a:ext cx="76809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R1</a:t>
            </a:r>
          </a:p>
        </p:txBody>
      </p:sp>
      <p:sp>
        <p:nvSpPr>
          <p:cNvPr id="21" name="Oval 20"/>
          <p:cNvSpPr/>
          <p:nvPr/>
        </p:nvSpPr>
        <p:spPr>
          <a:xfrm>
            <a:off x="3364991" y="3273552"/>
            <a:ext cx="768096" cy="768096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64991" y="3282696"/>
            <a:ext cx="76809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R2</a:t>
            </a:r>
          </a:p>
        </p:txBody>
      </p:sp>
      <p:sp>
        <p:nvSpPr>
          <p:cNvPr id="23" name="Oval 22"/>
          <p:cNvSpPr/>
          <p:nvPr/>
        </p:nvSpPr>
        <p:spPr>
          <a:xfrm>
            <a:off x="5193792" y="3639312"/>
            <a:ext cx="768096" cy="768096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3792" y="3648456"/>
            <a:ext cx="76809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R3</a:t>
            </a:r>
          </a:p>
        </p:txBody>
      </p:sp>
      <p:sp>
        <p:nvSpPr>
          <p:cNvPr id="25" name="Oval 24"/>
          <p:cNvSpPr/>
          <p:nvPr/>
        </p:nvSpPr>
        <p:spPr>
          <a:xfrm>
            <a:off x="7114031" y="3273552"/>
            <a:ext cx="768096" cy="768096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14031" y="3282696"/>
            <a:ext cx="76809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R4</a:t>
            </a:r>
          </a:p>
        </p:txBody>
      </p:sp>
      <p:sp>
        <p:nvSpPr>
          <p:cNvPr id="27" name="Oval 26"/>
          <p:cNvSpPr/>
          <p:nvPr/>
        </p:nvSpPr>
        <p:spPr>
          <a:xfrm>
            <a:off x="9034272" y="3730752"/>
            <a:ext cx="768096" cy="768096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34272" y="3739896"/>
            <a:ext cx="76809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R5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2194560" y="3703320"/>
            <a:ext cx="1188720" cy="228600"/>
          </a:xfrm>
          <a:prstGeom prst="line">
            <a:avLst/>
          </a:prstGeom>
          <a:ln w="254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114800" y="3703320"/>
            <a:ext cx="1097280" cy="274319"/>
          </a:xfrm>
          <a:prstGeom prst="line">
            <a:avLst/>
          </a:prstGeom>
          <a:ln w="254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943600" y="3703320"/>
            <a:ext cx="1188720" cy="274319"/>
          </a:xfrm>
          <a:prstGeom prst="line">
            <a:avLst/>
          </a:prstGeom>
          <a:ln w="254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863840" y="3703320"/>
            <a:ext cx="1188720" cy="365760"/>
          </a:xfrm>
          <a:prstGeom prst="line">
            <a:avLst/>
          </a:prstGeom>
          <a:ln w="254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40480" y="3977639"/>
            <a:ext cx="640080" cy="685801"/>
          </a:xfrm>
          <a:prstGeom prst="line">
            <a:avLst/>
          </a:prstGeom>
          <a:ln w="254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669280" y="4297680"/>
            <a:ext cx="822960" cy="502920"/>
          </a:xfrm>
          <a:prstGeom prst="line">
            <a:avLst/>
          </a:prstGeom>
          <a:ln w="254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480560" y="5257800"/>
            <a:ext cx="3200400" cy="347472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5257800"/>
            <a:ext cx="32004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976D2"/>
                </a:solidFill>
                <a:latin typeface="Aptos"/>
              </a:defRPr>
            </a:pPr>
            <a:r>
              <a:t>OSPF operates here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3. OSPF at a glance — the complete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796B"/>
                </a:solidFill>
                <a:latin typeface="Aptos"/>
              </a:defRPr>
            </a:pPr>
            <a:r>
              <a:t>BIG PICTURE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6012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960120"/>
            <a:ext cx="73152" cy="10515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88136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4"/>
                </a:solidFill>
                <a:latin typeface="Aptos Display"/>
              </a:defRPr>
            </a:pPr>
            <a:r>
              <a:t>1. Discover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8463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Hello messages find and maintain neighbors.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96012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960120"/>
            <a:ext cx="73152" cy="105156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088136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4"/>
                </a:solidFill>
                <a:latin typeface="Aptos Display"/>
              </a:defRPr>
            </a:pPr>
            <a:r>
              <a:t>2. Describe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527048"/>
            <a:ext cx="48463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Database Description messages summarize LSDB contents.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28600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286000"/>
            <a:ext cx="73152" cy="105156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2414016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4"/>
                </a:solidFill>
                <a:latin typeface="Aptos Display"/>
              </a:defRPr>
            </a:pPr>
            <a:r>
              <a:t>3. Request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852928"/>
            <a:ext cx="48463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Routers request missing or newer link-state information.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28600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286000"/>
            <a:ext cx="73152" cy="105156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414016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4"/>
                </a:solidFill>
                <a:latin typeface="Aptos Display"/>
              </a:defRPr>
            </a:pPr>
            <a:r>
              <a:t>4. Update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52928"/>
            <a:ext cx="48463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Link-State Updates carry LSAs and build/synchronize the LSDB.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61188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611880"/>
            <a:ext cx="73152" cy="105156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3739896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4"/>
                </a:solidFill>
                <a:latin typeface="Aptos Display"/>
              </a:defRPr>
            </a:pPr>
            <a:r>
              <a:t>5. Acknowledge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178808"/>
            <a:ext cx="48463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LS Acknowledgements confirm reliable delivery.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61188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611880"/>
            <a:ext cx="73152" cy="1051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739896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4"/>
                </a:solidFill>
                <a:latin typeface="Aptos Display"/>
              </a:defRPr>
            </a:pPr>
            <a:r>
              <a:t>6. Calculate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178808"/>
            <a:ext cx="48463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Each router runs SPF/Dijkstra on its LSDB.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46120" y="4983480"/>
            <a:ext cx="5166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46120" y="4983480"/>
            <a:ext cx="73152" cy="10515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29000" y="5111496"/>
            <a:ext cx="48463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4"/>
                </a:solidFill>
                <a:latin typeface="Aptos Display"/>
              </a:defRPr>
            </a:pPr>
            <a:r>
              <a:t>7. Route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5550408"/>
            <a:ext cx="48463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Best paths enter the routing table and are used for forwarding.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4. Metric in OSPF = link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F6C00"/>
                </a:solidFill>
                <a:latin typeface="Aptos"/>
              </a:defRPr>
            </a:pPr>
            <a:r>
              <a:t>METRIC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60120"/>
            <a:ext cx="3657600" cy="13258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960120"/>
            <a:ext cx="73152" cy="132588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88136"/>
            <a:ext cx="3337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What is cost?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33375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t>Cost is the numerical weight assigned to a link. The total path cost is the sum of costs of all links on that path.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3657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73152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3337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What can influence it?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33375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t>The material says cost can be based on throughput, round-trip time, reliability, or even hop count if the administrator chooses.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160520"/>
            <a:ext cx="3657600" cy="1325880"/>
          </a:xfrm>
          <a:prstGeom prst="roundRect">
            <a:avLst/>
          </a:prstGeom>
          <a:solidFill>
            <a:srgbClr val="E5F7F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160520"/>
            <a:ext cx="73152" cy="132588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88536"/>
            <a:ext cx="3337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Different service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27448"/>
            <a:ext cx="33375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440"/>
                </a:solidFill>
                <a:latin typeface="Aptos"/>
              </a:defRPr>
            </a:pPr>
            <a:r>
              <a:t>OSPF can support different costs for different Type of Service (TOS) requirements, depending on the OSPF version/features being used.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914400"/>
            <a:ext cx="5120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0F1F34"/>
                </a:solidFill>
                <a:latin typeface="Aptos"/>
              </a:defRPr>
            </a:pPr>
            <a:r>
              <a:t>Example: choose the lower TOTAL cost</a:t>
            </a:r>
          </a:p>
        </p:txBody>
      </p:sp>
      <p:sp>
        <p:nvSpPr>
          <p:cNvPr id="19" name="Oval 18"/>
          <p:cNvSpPr/>
          <p:nvPr/>
        </p:nvSpPr>
        <p:spPr>
          <a:xfrm>
            <a:off x="4645152" y="1901952"/>
            <a:ext cx="768096" cy="768096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45152" y="1911095"/>
            <a:ext cx="76809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1" name="Oval 20"/>
          <p:cNvSpPr/>
          <p:nvPr/>
        </p:nvSpPr>
        <p:spPr>
          <a:xfrm>
            <a:off x="6748272" y="1170432"/>
            <a:ext cx="768096" cy="768096"/>
          </a:xfrm>
          <a:prstGeom prst="ellipse">
            <a:avLst/>
          </a:prstGeom>
          <a:solidFill>
            <a:srgbClr val="00ACC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48272" y="1179576"/>
            <a:ext cx="76809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3" name="Oval 22"/>
          <p:cNvSpPr/>
          <p:nvPr/>
        </p:nvSpPr>
        <p:spPr>
          <a:xfrm>
            <a:off x="9034272" y="1901952"/>
            <a:ext cx="768096" cy="768096"/>
          </a:xfrm>
          <a:prstGeom prst="ellipse">
            <a:avLst/>
          </a:prstGeom>
          <a:solidFill>
            <a:srgbClr val="2E7D3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34272" y="1911095"/>
            <a:ext cx="76809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5349240" y="1737360"/>
            <a:ext cx="1463040" cy="365760"/>
          </a:xfrm>
          <a:prstGeom prst="line">
            <a:avLst/>
          </a:prstGeom>
          <a:ln w="381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52360" y="1737360"/>
            <a:ext cx="1645920" cy="365760"/>
          </a:xfrm>
          <a:prstGeom prst="line">
            <a:avLst/>
          </a:prstGeom>
          <a:ln w="381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897880" y="1600200"/>
            <a:ext cx="594360" cy="347472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97880" y="1600200"/>
            <a:ext cx="594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976D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600200"/>
            <a:ext cx="594360" cy="347472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1600200"/>
            <a:ext cx="594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976D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1" name="Oval 30"/>
          <p:cNvSpPr/>
          <p:nvPr/>
        </p:nvSpPr>
        <p:spPr>
          <a:xfrm>
            <a:off x="4645152" y="4096512"/>
            <a:ext cx="768096" cy="768096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5152" y="4105656"/>
            <a:ext cx="76809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33" name="Oval 32"/>
          <p:cNvSpPr/>
          <p:nvPr/>
        </p:nvSpPr>
        <p:spPr>
          <a:xfrm>
            <a:off x="6748272" y="4507992"/>
            <a:ext cx="768096" cy="768096"/>
          </a:xfrm>
          <a:prstGeom prst="ellipse">
            <a:avLst/>
          </a:prstGeom>
          <a:solidFill>
            <a:srgbClr val="6A4C9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48272" y="4517136"/>
            <a:ext cx="76809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35" name="Oval 34"/>
          <p:cNvSpPr/>
          <p:nvPr/>
        </p:nvSpPr>
        <p:spPr>
          <a:xfrm>
            <a:off x="9034272" y="4096512"/>
            <a:ext cx="768096" cy="768096"/>
          </a:xfrm>
          <a:prstGeom prst="ellipse">
            <a:avLst/>
          </a:prstGeom>
          <a:solidFill>
            <a:srgbClr val="2E7D3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34272" y="4105656"/>
            <a:ext cx="768096" cy="7680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49240" y="4526280"/>
            <a:ext cx="1463040" cy="274320"/>
          </a:xfrm>
          <a:prstGeom prst="line">
            <a:avLst/>
          </a:prstGeom>
          <a:ln w="381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7452360" y="4526280"/>
            <a:ext cx="1645920" cy="274320"/>
          </a:xfrm>
          <a:prstGeom prst="line">
            <a:avLst/>
          </a:prstGeom>
          <a:ln w="381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897880" y="4709160"/>
            <a:ext cx="594360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97880" y="4709160"/>
            <a:ext cx="594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4709160"/>
            <a:ext cx="59436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38160" y="4709160"/>
            <a:ext cx="5943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0" y="2697480"/>
            <a:ext cx="3931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00796B"/>
                </a:solidFill>
                <a:latin typeface="Aptos"/>
              </a:defRPr>
            </a:pPr>
            <a:r>
              <a:t>A → B → D = 2 + 2 =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5349240"/>
            <a:ext cx="39319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EF6C00"/>
                </a:solidFill>
                <a:latin typeface="Aptos"/>
              </a:defRPr>
            </a:pPr>
            <a:r>
              <a:t>A → C → D = 4 + 1 = 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23560" y="5852160"/>
            <a:ext cx="448056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23560" y="5852160"/>
            <a:ext cx="4480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Aptos"/>
              </a:defRPr>
            </a:pPr>
            <a:r>
              <a:t>OSPF selects the path with the lowest total cost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5. What does “link-state” mean?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796B"/>
                </a:solidFill>
                <a:latin typeface="Aptos"/>
              </a:defRPr>
            </a:pPr>
            <a:r>
              <a:t>LINK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3429000" cy="1508760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73152" cy="15087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042416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481328"/>
            <a:ext cx="31089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t>A connection/interface from one router to another network or router.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914400"/>
            <a:ext cx="3429000" cy="1508760"/>
          </a:xfrm>
          <a:prstGeom prst="roundRect">
            <a:avLst/>
          </a:prstGeom>
          <a:solidFill>
            <a:srgbClr val="E5F7F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914400"/>
            <a:ext cx="73152" cy="150876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042416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481328"/>
            <a:ext cx="31089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t>Information describing that link: who is connected, what type of connection it is, and its cost/attributes.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914400"/>
            <a:ext cx="3429000" cy="15087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914400"/>
            <a:ext cx="73152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042416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Advertisement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481328"/>
            <a:ext cx="310896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t>A router advertises its link-state information so other routers can learn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834640"/>
            <a:ext cx="44805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0F1F34"/>
                </a:solidFill>
                <a:latin typeface="Aptos"/>
              </a:defRPr>
            </a:pPr>
            <a:r>
              <a:t>REAL NETWORK  →  GRAPH MODEL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828800" y="3657600"/>
            <a:ext cx="2468880" cy="731520"/>
          </a:xfrm>
          <a:prstGeom prst="line">
            <a:avLst/>
          </a:prstGeom>
          <a:ln w="3175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898648" y="3858768"/>
            <a:ext cx="502920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98648" y="3858768"/>
            <a:ext cx="502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297680" y="3657600"/>
            <a:ext cx="2468880" cy="822960"/>
          </a:xfrm>
          <a:prstGeom prst="line">
            <a:avLst/>
          </a:prstGeom>
          <a:ln w="3175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367528" y="3904488"/>
            <a:ext cx="502920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67528" y="3904488"/>
            <a:ext cx="502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766560" y="3657600"/>
            <a:ext cx="2560320" cy="822960"/>
          </a:xfrm>
          <a:prstGeom prst="line">
            <a:avLst/>
          </a:prstGeom>
          <a:ln w="3175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882128" y="3904488"/>
            <a:ext cx="502920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82128" y="3904488"/>
            <a:ext cx="502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3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297680" y="3657600"/>
            <a:ext cx="1188720" cy="1828800"/>
          </a:xfrm>
          <a:prstGeom prst="line">
            <a:avLst/>
          </a:prstGeom>
          <a:ln w="3175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727448" y="4407408"/>
            <a:ext cx="502920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27448" y="4407408"/>
            <a:ext cx="502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5486400" y="4480560"/>
            <a:ext cx="1280160" cy="1005840"/>
          </a:xfrm>
          <a:prstGeom prst="line">
            <a:avLst/>
          </a:prstGeom>
          <a:ln w="3175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961888" y="4818888"/>
            <a:ext cx="502920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61888" y="4818888"/>
            <a:ext cx="5029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4" name="Oval 33"/>
          <p:cNvSpPr/>
          <p:nvPr/>
        </p:nvSpPr>
        <p:spPr>
          <a:xfrm>
            <a:off x="1481328" y="4041648"/>
            <a:ext cx="694944" cy="694944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481328" y="4050791"/>
            <a:ext cx="694944" cy="6949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R1</a:t>
            </a:r>
          </a:p>
        </p:txBody>
      </p:sp>
      <p:sp>
        <p:nvSpPr>
          <p:cNvPr id="36" name="Oval 35"/>
          <p:cNvSpPr/>
          <p:nvPr/>
        </p:nvSpPr>
        <p:spPr>
          <a:xfrm>
            <a:off x="3950208" y="3310128"/>
            <a:ext cx="694944" cy="694944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950208" y="3319272"/>
            <a:ext cx="694944" cy="6949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R2</a:t>
            </a:r>
          </a:p>
        </p:txBody>
      </p:sp>
      <p:sp>
        <p:nvSpPr>
          <p:cNvPr id="38" name="Oval 37"/>
          <p:cNvSpPr/>
          <p:nvPr/>
        </p:nvSpPr>
        <p:spPr>
          <a:xfrm>
            <a:off x="6419088" y="4133088"/>
            <a:ext cx="694944" cy="694944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4142232"/>
            <a:ext cx="694944" cy="6949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R3</a:t>
            </a:r>
          </a:p>
        </p:txBody>
      </p:sp>
      <p:sp>
        <p:nvSpPr>
          <p:cNvPr id="40" name="Oval 39"/>
          <p:cNvSpPr/>
          <p:nvPr/>
        </p:nvSpPr>
        <p:spPr>
          <a:xfrm>
            <a:off x="8979407" y="3310128"/>
            <a:ext cx="694944" cy="694944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79407" y="3319272"/>
            <a:ext cx="694944" cy="6949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R4</a:t>
            </a:r>
          </a:p>
        </p:txBody>
      </p:sp>
      <p:sp>
        <p:nvSpPr>
          <p:cNvPr id="42" name="Oval 41"/>
          <p:cNvSpPr/>
          <p:nvPr/>
        </p:nvSpPr>
        <p:spPr>
          <a:xfrm>
            <a:off x="5138928" y="5138928"/>
            <a:ext cx="694944" cy="694944"/>
          </a:xfrm>
          <a:prstGeom prst="ellipse">
            <a:avLst/>
          </a:prstGeom>
          <a:solidFill>
            <a:srgbClr val="2E7D3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38928" y="5148072"/>
            <a:ext cx="694944" cy="6949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LAN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88720" y="5897880"/>
            <a:ext cx="1463040" cy="347472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88720" y="5897880"/>
            <a:ext cx="14630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976D2"/>
                </a:solidFill>
                <a:latin typeface="Aptos"/>
              </a:defRPr>
            </a:pPr>
            <a:r>
              <a:t>Router = node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26080" y="5897880"/>
            <a:ext cx="1874519" cy="347472"/>
          </a:xfrm>
          <a:prstGeom prst="roundRect">
            <a:avLst/>
          </a:prstGeom>
          <a:solidFill>
            <a:srgbClr val="E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26080" y="5897880"/>
            <a:ext cx="1874519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0ACC1"/>
                </a:solidFill>
                <a:latin typeface="Aptos"/>
              </a:defRPr>
            </a:pPr>
            <a:r>
              <a:t>Network/link = edge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74920" y="5897880"/>
            <a:ext cx="1783080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74920" y="5897880"/>
            <a:ext cx="17830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Cost = edge weight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6. Algorithm used: Dijkstra / Shortest Path First (SPF)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A4C93"/>
                </a:solidFill>
                <a:latin typeface="Aptos"/>
              </a:defRPr>
            </a:pPr>
            <a:r>
              <a:t>ALGORITHM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3703320" cy="1417320"/>
          </a:xfrm>
          <a:prstGeom prst="roundRect">
            <a:avLst/>
          </a:prstGeom>
          <a:solidFill>
            <a:srgbClr val="F2EDF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73152" cy="141732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042416"/>
            <a:ext cx="3383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Why Dijkstra?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481328"/>
            <a:ext cx="3383279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t>Once the LSDB gives a router the network map, it needs an algorithm to find the least-cost path from itself to every destination. OSPF uses SPF based on Dijkstra's algorithm.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914400"/>
            <a:ext cx="65836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• Start at the source router.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• Give the source cost 0; all unknown destinations start at ∞.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• Choose the unvisited node with the smallest known cost.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• Relax/update its neighbors if a cheaper path is found.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• Mark the chosen node as permanent and repeat.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600">
                <a:solidFill>
                  <a:srgbClr val="2A3440"/>
                </a:solidFill>
                <a:latin typeface="Aptos"/>
              </a:defRPr>
            </a:pPr>
            <a:r>
              <a:t>• The resulting shortest-path tree gives the best next hops.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480560"/>
            <a:ext cx="640080" cy="640080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489704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5212080"/>
            <a:ext cx="13258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F1F34"/>
                </a:solidFill>
                <a:latin typeface="Aptos"/>
              </a:defRPr>
            </a:pPr>
            <a:r>
              <a:t>Start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53312" y="4800600"/>
            <a:ext cx="795528" cy="0"/>
          </a:xfrm>
          <a:prstGeom prst="line">
            <a:avLst/>
          </a:prstGeom>
          <a:ln w="254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423160" y="4480560"/>
            <a:ext cx="640080" cy="640080"/>
          </a:xfrm>
          <a:prstGeom prst="ellipse">
            <a:avLst/>
          </a:prstGeom>
          <a:solidFill>
            <a:srgbClr val="00ACC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3160" y="4489704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4832" y="5212080"/>
            <a:ext cx="13258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F1F34"/>
                </a:solidFill>
                <a:latin typeface="Aptos"/>
              </a:defRPr>
            </a:pPr>
            <a:r>
              <a:t>Pick</a:t>
            </a:r>
            <a:br/>
            <a:r>
              <a:t>minimum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90672" y="4800600"/>
            <a:ext cx="795528" cy="0"/>
          </a:xfrm>
          <a:prstGeom prst="line">
            <a:avLst/>
          </a:prstGeom>
          <a:ln w="254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4160520" y="4480560"/>
            <a:ext cx="640080" cy="640080"/>
          </a:xfrm>
          <a:prstGeom prst="ellipse">
            <a:avLst/>
          </a:prstGeom>
          <a:solidFill>
            <a:srgbClr val="EF6C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4489704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2192" y="5212080"/>
            <a:ext cx="13258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F1F34"/>
                </a:solidFill>
                <a:latin typeface="Aptos"/>
              </a:defRPr>
            </a:pPr>
            <a:r>
              <a:t>Update</a:t>
            </a:r>
            <a:br/>
            <a:r>
              <a:t>neighbors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828032" y="4800600"/>
            <a:ext cx="795528" cy="0"/>
          </a:xfrm>
          <a:prstGeom prst="line">
            <a:avLst/>
          </a:prstGeom>
          <a:ln w="254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5897880" y="4480560"/>
            <a:ext cx="640080" cy="640080"/>
          </a:xfrm>
          <a:prstGeom prst="ellipse">
            <a:avLst/>
          </a:prstGeom>
          <a:solidFill>
            <a:srgbClr val="00796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97880" y="4489704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59552" y="5212080"/>
            <a:ext cx="13258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F1F34"/>
                </a:solidFill>
                <a:latin typeface="Aptos"/>
              </a:defRPr>
            </a:pPr>
            <a:r>
              <a:t>Repeat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65392" y="4800600"/>
            <a:ext cx="795528" cy="0"/>
          </a:xfrm>
          <a:prstGeom prst="line">
            <a:avLst/>
          </a:prstGeom>
          <a:ln w="254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635240" y="4480560"/>
            <a:ext cx="640080" cy="640080"/>
          </a:xfrm>
          <a:prstGeom prst="ellipse">
            <a:avLst/>
          </a:prstGeom>
          <a:solidFill>
            <a:srgbClr val="6A4C9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4489704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96912" y="5212080"/>
            <a:ext cx="13258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F1F34"/>
                </a:solidFill>
                <a:latin typeface="Aptos"/>
              </a:defRPr>
            </a:pPr>
            <a:r>
              <a:t>SPF tree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02752" y="4800600"/>
            <a:ext cx="795528" cy="0"/>
          </a:xfrm>
          <a:prstGeom prst="line">
            <a:avLst/>
          </a:prstGeom>
          <a:ln w="254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372600" y="4480560"/>
            <a:ext cx="640080" cy="64008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4489704"/>
            <a:ext cx="64008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34272" y="5212080"/>
            <a:ext cx="132588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F1F34"/>
                </a:solidFill>
                <a:latin typeface="Aptos"/>
              </a:defRPr>
            </a:pPr>
            <a:r>
              <a:t>Routing</a:t>
            </a:r>
            <a:br/>
            <a:r>
              <a:t>table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31720" y="5989320"/>
            <a:ext cx="7543800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31720" y="5989320"/>
            <a:ext cx="75438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Important: OSPF does NOT simply count hops by default; it minimizes configured link cost.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7. Dijkstra example —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A4C93"/>
                </a:solidFill>
                <a:latin typeface="Aptos"/>
              </a:defRPr>
            </a:pPr>
            <a:r>
              <a:t>WORKED EXAMPLE</a:t>
            </a:r>
          </a:p>
        </p:txBody>
      </p:sp>
      <p:cxnSp>
        <p:nvCxnSpPr>
          <p:cNvPr id="6" name="Connector 5"/>
          <p:cNvCxnSpPr/>
          <p:nvPr/>
        </p:nvCxnSpPr>
        <p:spPr>
          <a:xfrm flipV="1">
            <a:off x="1417320" y="1920240"/>
            <a:ext cx="2240280" cy="1005840"/>
          </a:xfrm>
          <a:prstGeom prst="line">
            <a:avLst/>
          </a:prstGeom>
          <a:ln w="381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354579" y="2258568"/>
            <a:ext cx="530352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54579" y="2258568"/>
            <a:ext cx="5303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17320" y="2926080"/>
            <a:ext cx="2240280" cy="1371600"/>
          </a:xfrm>
          <a:prstGeom prst="line">
            <a:avLst/>
          </a:prstGeom>
          <a:ln w="381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54579" y="3447288"/>
            <a:ext cx="530352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54579" y="3447288"/>
            <a:ext cx="5303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1920240"/>
            <a:ext cx="0" cy="2377440"/>
          </a:xfrm>
          <a:prstGeom prst="line">
            <a:avLst/>
          </a:prstGeom>
          <a:ln w="381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74720" y="2944368"/>
            <a:ext cx="530352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2944368"/>
            <a:ext cx="5303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0" y="1920240"/>
            <a:ext cx="2377440" cy="1005840"/>
          </a:xfrm>
          <a:prstGeom prst="line">
            <a:avLst/>
          </a:prstGeom>
          <a:ln w="381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663440" y="2258568"/>
            <a:ext cx="530352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258568"/>
            <a:ext cx="5303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4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657600" y="2926080"/>
            <a:ext cx="2377440" cy="1371600"/>
          </a:xfrm>
          <a:prstGeom prst="line">
            <a:avLst/>
          </a:prstGeom>
          <a:ln w="381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663440" y="3447288"/>
            <a:ext cx="530352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40" y="3447288"/>
            <a:ext cx="5303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2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6035040" y="1920240"/>
            <a:ext cx="2377440" cy="1005840"/>
          </a:xfrm>
          <a:prstGeom prst="line">
            <a:avLst/>
          </a:prstGeom>
          <a:ln w="381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040879" y="2258568"/>
            <a:ext cx="530352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79" y="2258568"/>
            <a:ext cx="530352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4" name="Oval 23"/>
          <p:cNvSpPr/>
          <p:nvPr/>
        </p:nvSpPr>
        <p:spPr>
          <a:xfrm>
            <a:off x="1051560" y="2560320"/>
            <a:ext cx="731520" cy="731520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2569464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6" name="Oval 25"/>
          <p:cNvSpPr/>
          <p:nvPr/>
        </p:nvSpPr>
        <p:spPr>
          <a:xfrm>
            <a:off x="3291840" y="1554480"/>
            <a:ext cx="731520" cy="731520"/>
          </a:xfrm>
          <a:prstGeom prst="ellipse">
            <a:avLst/>
          </a:prstGeom>
          <a:solidFill>
            <a:srgbClr val="00ACC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91840" y="1563624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8" name="Oval 27"/>
          <p:cNvSpPr/>
          <p:nvPr/>
        </p:nvSpPr>
        <p:spPr>
          <a:xfrm>
            <a:off x="3291840" y="3931920"/>
            <a:ext cx="731520" cy="731520"/>
          </a:xfrm>
          <a:prstGeom prst="ellipse">
            <a:avLst/>
          </a:prstGeom>
          <a:solidFill>
            <a:srgbClr val="00ACC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941063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30" name="Oval 29"/>
          <p:cNvSpPr/>
          <p:nvPr/>
        </p:nvSpPr>
        <p:spPr>
          <a:xfrm>
            <a:off x="5669279" y="2560320"/>
            <a:ext cx="731520" cy="731520"/>
          </a:xfrm>
          <a:prstGeom prst="ellipse">
            <a:avLst/>
          </a:prstGeom>
          <a:solidFill>
            <a:srgbClr val="00ACC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79" y="2569464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32" name="Oval 31"/>
          <p:cNvSpPr/>
          <p:nvPr/>
        </p:nvSpPr>
        <p:spPr>
          <a:xfrm>
            <a:off x="8046719" y="1554480"/>
            <a:ext cx="731520" cy="731520"/>
          </a:xfrm>
          <a:prstGeom prst="ellipse">
            <a:avLst/>
          </a:prstGeom>
          <a:solidFill>
            <a:srgbClr val="00ACC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9" y="1563624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9601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0F1F34"/>
                </a:solidFill>
                <a:latin typeface="Aptos"/>
              </a:defRPr>
            </a:pPr>
            <a:r>
              <a:t>Source = 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868680"/>
            <a:ext cx="24231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00" y="868680"/>
            <a:ext cx="73152" cy="452628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0" y="996695"/>
            <a:ext cx="2103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Distance idea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1435607"/>
            <a:ext cx="2103120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Initial:</a:t>
            </a:r>
            <a:br/>
            <a:r>
              <a:t>A=0, B=∞, C=∞, D=∞, E=∞</a:t>
            </a:r>
            <a:br/>
            <a:br/>
            <a:r>
              <a:t>From A:</a:t>
            </a:r>
            <a:br/>
            <a:r>
              <a:t>B=2, C=5</a:t>
            </a:r>
            <a:br/>
            <a:br/>
            <a:r>
              <a:t>Pick B (2):</a:t>
            </a:r>
            <a:br/>
            <a:r>
              <a:t>C=min(5,2+1)=3</a:t>
            </a:r>
            <a:br/>
            <a:r>
              <a:t>D=2+4=6</a:t>
            </a:r>
            <a:br/>
            <a:br/>
            <a:r>
              <a:t>Pick C (3):</a:t>
            </a:r>
            <a:br/>
            <a:r>
              <a:t>D=min(6,3+2)=5</a:t>
            </a:r>
            <a:br/>
            <a:br/>
            <a:r>
              <a:t>Pick D (5):</a:t>
            </a:r>
            <a:br/>
            <a:r>
              <a:t>E=5+3=8</a:t>
            </a:r>
            <a:br/>
            <a:br/>
            <a:r>
              <a:t>Final:</a:t>
            </a:r>
            <a:br/>
            <a:r>
              <a:t>A→B=2</a:t>
            </a:r>
            <a:br/>
            <a:r>
              <a:t>A→B→C=3</a:t>
            </a:r>
            <a:br/>
            <a:r>
              <a:t>A→B→C→D=5</a:t>
            </a:r>
            <a:br/>
            <a:r>
              <a:t>A→B→C→D→E=8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31720" y="5715000"/>
            <a:ext cx="658368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31720" y="5715000"/>
            <a:ext cx="65836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Aptos"/>
              </a:defRPr>
            </a:pPr>
            <a:r>
              <a:t>Shortest path to E = A → B → C → D → E (cost 8)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8. LSDB: the shared map OSPF builds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796B"/>
                </a:solidFill>
                <a:latin typeface="Aptos"/>
              </a:defRPr>
            </a:pPr>
            <a:r>
              <a:t>LSDB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3246120" cy="1417320"/>
          </a:xfrm>
          <a:prstGeom prst="roundRect">
            <a:avLst/>
          </a:prstGeom>
          <a:solidFill>
            <a:srgbClr val="E5F7F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73152" cy="141732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042416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LSA = Link-State Advertisement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481328"/>
            <a:ext cx="2926079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440"/>
                </a:solidFill>
                <a:latin typeface="Aptos"/>
              </a:defRPr>
            </a:pPr>
            <a:r>
              <a:t>A small piece of information describing a router/link and its state. LSAs are carried in OSPF Link-State Update messages.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3246120" cy="1417320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06040"/>
            <a:ext cx="73152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734056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LSDB = Link-State 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172968"/>
            <a:ext cx="2926079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440"/>
                </a:solidFill>
                <a:latin typeface="Aptos"/>
              </a:defRPr>
            </a:pPr>
            <a:r>
              <a:t>The collection of LSAs known for an OSPF area. It represents the topology map used by SPF.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97680"/>
            <a:ext cx="3246120" cy="141732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297680"/>
            <a:ext cx="73152" cy="141732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425696"/>
            <a:ext cx="29260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Flooding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864608"/>
            <a:ext cx="2926079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440"/>
                </a:solidFill>
                <a:latin typeface="Aptos"/>
              </a:defRPr>
            </a:pPr>
            <a:r>
              <a:t>Routers propagate new/changed link-state information so neighbors can synchronize their databases.</a:t>
            </a:r>
          </a:p>
        </p:txBody>
      </p:sp>
      <p:sp>
        <p:nvSpPr>
          <p:cNvPr id="18" name="Oval 17"/>
          <p:cNvSpPr/>
          <p:nvPr/>
        </p:nvSpPr>
        <p:spPr>
          <a:xfrm>
            <a:off x="5120640" y="1463040"/>
            <a:ext cx="731520" cy="731520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472184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R1</a:t>
            </a:r>
          </a:p>
        </p:txBody>
      </p:sp>
      <p:sp>
        <p:nvSpPr>
          <p:cNvPr id="20" name="Oval 19"/>
          <p:cNvSpPr/>
          <p:nvPr/>
        </p:nvSpPr>
        <p:spPr>
          <a:xfrm>
            <a:off x="7498079" y="1005840"/>
            <a:ext cx="731520" cy="731520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1014984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R2</a:t>
            </a:r>
          </a:p>
        </p:txBody>
      </p:sp>
      <p:sp>
        <p:nvSpPr>
          <p:cNvPr id="22" name="Oval 21"/>
          <p:cNvSpPr/>
          <p:nvPr/>
        </p:nvSpPr>
        <p:spPr>
          <a:xfrm>
            <a:off x="9692640" y="2103120"/>
            <a:ext cx="731520" cy="731520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2112264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R3</a:t>
            </a:r>
          </a:p>
        </p:txBody>
      </p:sp>
      <p:sp>
        <p:nvSpPr>
          <p:cNvPr id="24" name="Oval 23"/>
          <p:cNvSpPr/>
          <p:nvPr/>
        </p:nvSpPr>
        <p:spPr>
          <a:xfrm>
            <a:off x="7680960" y="3291840"/>
            <a:ext cx="731520" cy="731520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300984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R4</a:t>
            </a:r>
          </a:p>
        </p:txBody>
      </p:sp>
      <p:sp>
        <p:nvSpPr>
          <p:cNvPr id="26" name="Oval 25"/>
          <p:cNvSpPr/>
          <p:nvPr/>
        </p:nvSpPr>
        <p:spPr>
          <a:xfrm>
            <a:off x="5303520" y="3474720"/>
            <a:ext cx="731520" cy="731520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3483864"/>
            <a:ext cx="7315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R5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5486400" y="1371600"/>
            <a:ext cx="2377440" cy="457200"/>
          </a:xfrm>
          <a:prstGeom prst="line">
            <a:avLst/>
          </a:prstGeom>
          <a:ln w="3048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63840" y="1371600"/>
            <a:ext cx="2194560" cy="1097280"/>
          </a:xfrm>
          <a:prstGeom prst="line">
            <a:avLst/>
          </a:prstGeom>
          <a:ln w="3048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8046720" y="2468880"/>
            <a:ext cx="2011680" cy="1188720"/>
          </a:xfrm>
          <a:prstGeom prst="line">
            <a:avLst/>
          </a:prstGeom>
          <a:ln w="3048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5669280" y="3657600"/>
            <a:ext cx="2377440" cy="182880"/>
          </a:xfrm>
          <a:prstGeom prst="line">
            <a:avLst/>
          </a:prstGeom>
          <a:ln w="3048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 flipV="1">
            <a:off x="5486400" y="1828800"/>
            <a:ext cx="182880" cy="2011680"/>
          </a:xfrm>
          <a:prstGeom prst="line">
            <a:avLst/>
          </a:prstGeom>
          <a:ln w="3048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863840" y="1371600"/>
            <a:ext cx="182880" cy="2286000"/>
          </a:xfrm>
          <a:prstGeom prst="line">
            <a:avLst/>
          </a:prstGeom>
          <a:ln w="3048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663440" y="4800600"/>
            <a:ext cx="3749039" cy="347472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4800600"/>
            <a:ext cx="3749039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976D2"/>
                </a:solidFill>
                <a:latin typeface="Aptos"/>
              </a:defRPr>
            </a:pPr>
            <a:r>
              <a:t>Each router can build a topology map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12080" y="5349240"/>
            <a:ext cx="274320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0" y="5349240"/>
            <a:ext cx="27432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Aptos"/>
              </a:defRPr>
            </a:pPr>
            <a:r>
              <a:t>Then SPF runs on that map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0" y="5897880"/>
            <a:ext cx="2011680" cy="347472"/>
          </a:xfrm>
          <a:prstGeom prst="roundRect">
            <a:avLst/>
          </a:prstGeom>
          <a:solidFill>
            <a:srgbClr val="F2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69280" y="5897880"/>
            <a:ext cx="20116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6A4C93"/>
                </a:solidFill>
                <a:latin typeface="Aptos"/>
              </a:defRPr>
            </a:pPr>
            <a:r>
              <a:t>Result: routing table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9. OSPF implementation — where does it run?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976D2"/>
                </a:solidFill>
                <a:latin typeface="Aptos"/>
              </a:defRPr>
            </a:pPr>
            <a:r>
              <a:t>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60120"/>
            <a:ext cx="3429000" cy="1463040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960120"/>
            <a:ext cx="73152" cy="14630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88136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Network layer 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3108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t>OSPF is implemented as a routing protocol associated with the network layer. It uses IP to carry OSPF messages.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960120"/>
            <a:ext cx="3429000" cy="1463040"/>
          </a:xfrm>
          <a:prstGeom prst="roundRect">
            <a:avLst/>
          </a:prstGeom>
          <a:solidFill>
            <a:srgbClr val="E5F7F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960120"/>
            <a:ext cx="73152" cy="146304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088136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IP protocol number = 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527048"/>
            <a:ext cx="3108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t>When an IP datagram carries OSPF, the IP Protocol field is set to 89. This identifies the payload as OSPF.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960120"/>
            <a:ext cx="3429000" cy="14630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960120"/>
            <a:ext cx="73152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088136"/>
            <a:ext cx="3108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Why this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527048"/>
            <a:ext cx="31089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t>Routers can recognize that the IP payload is OSPF control information rather than TCP/UDP application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971800"/>
            <a:ext cx="4846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0F1F34"/>
                </a:solidFill>
                <a:latin typeface="Aptos"/>
              </a:defRPr>
            </a:pPr>
            <a:r>
              <a:t>OSPF message carried inside 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60320" y="3703320"/>
            <a:ext cx="1920240" cy="914400"/>
          </a:xfrm>
          <a:prstGeom prst="roundRect">
            <a:avLst/>
          </a:prstGeom>
          <a:solidFill>
            <a:srgbClr val="E8F2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3703320"/>
            <a:ext cx="1920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976D2"/>
                </a:solidFill>
                <a:latin typeface="Aptos"/>
              </a:defRPr>
            </a:pPr>
            <a:r>
              <a:t>IP header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3703320"/>
            <a:ext cx="1920240" cy="914400"/>
          </a:xfrm>
          <a:prstGeom prst="roundRect">
            <a:avLst/>
          </a:prstGeom>
          <a:solidFill>
            <a:srgbClr val="E5F7F9"/>
          </a:solidFill>
          <a:ln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92040" y="3703320"/>
            <a:ext cx="1920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00ACC1"/>
                </a:solidFill>
                <a:latin typeface="Aptos"/>
              </a:defRPr>
            </a:pPr>
            <a:r>
              <a:t>OSPF header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59" y="3703320"/>
            <a:ext cx="1920240" cy="914400"/>
          </a:xfrm>
          <a:prstGeom prst="roundRect">
            <a:avLst/>
          </a:prstGeom>
          <a:solidFill>
            <a:srgbClr val="E8F5E9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59" y="3703320"/>
            <a:ext cx="192024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2E7D32"/>
                </a:solidFill>
                <a:latin typeface="Aptos"/>
              </a:defRPr>
            </a:pPr>
            <a:r>
              <a:t>OSPF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5029200"/>
            <a:ext cx="2971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C62828"/>
                </a:solidFill>
                <a:latin typeface="Aptos"/>
              </a:defRPr>
            </a:pPr>
            <a:r>
              <a:t>Protocol field = 89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5715000"/>
            <a:ext cx="4892040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5715000"/>
            <a:ext cx="48920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OSPF = routing control traffic, not user application 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10. OSPF uses five message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976D2"/>
                </a:solidFill>
                <a:latin typeface="Aptos"/>
              </a:defRPr>
            </a:pPr>
            <a:r>
              <a:t>MESSAGES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914400"/>
            <a:ext cx="914400" cy="347472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914400"/>
            <a:ext cx="9144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976D2"/>
                </a:solidFill>
                <a:latin typeface="Aptos"/>
              </a:defRPr>
            </a:pPr>
            <a:r>
              <a:t>Type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896112"/>
            <a:ext cx="909828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874519" y="896112"/>
            <a:ext cx="73152" cy="89611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1024128"/>
            <a:ext cx="8778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4"/>
                </a:solidFill>
                <a:latin typeface="Aptos Display"/>
              </a:defRPr>
            </a:pPr>
            <a:r>
              <a:t>Hello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463040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Discover and maintain neighbors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1938528"/>
            <a:ext cx="914400" cy="347472"/>
          </a:xfrm>
          <a:prstGeom prst="roundRect">
            <a:avLst/>
          </a:prstGeom>
          <a:solidFill>
            <a:srgbClr val="E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938528"/>
            <a:ext cx="9144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0ACC1"/>
                </a:solidFill>
                <a:latin typeface="Aptos"/>
              </a:defRPr>
            </a:pPr>
            <a:r>
              <a:t>Type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74519" y="1920240"/>
            <a:ext cx="909828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74519" y="1920240"/>
            <a:ext cx="73152" cy="896112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57400" y="2048256"/>
            <a:ext cx="8778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4"/>
                </a:solidFill>
                <a:latin typeface="Aptos Display"/>
              </a:defRPr>
            </a:pPr>
            <a:r>
              <a:t>Database Description (DBD)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487168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Summarize LSDB contents / synchronize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2962656"/>
            <a:ext cx="914400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62656"/>
            <a:ext cx="9144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Type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74519" y="2944368"/>
            <a:ext cx="909828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74519" y="2944368"/>
            <a:ext cx="73152" cy="896112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57400" y="3072384"/>
            <a:ext cx="8778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4"/>
                </a:solidFill>
                <a:latin typeface="Aptos Display"/>
              </a:defRPr>
            </a:pPr>
            <a:r>
              <a:t>Link-State Request (LSR)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511296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Ask for specific missing/newer LSAs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986784"/>
            <a:ext cx="91440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986784"/>
            <a:ext cx="9144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0796B"/>
                </a:solidFill>
                <a:latin typeface="Aptos"/>
              </a:defRPr>
            </a:pPr>
            <a:r>
              <a:t>Type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74519" y="3968496"/>
            <a:ext cx="909828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874519" y="3968496"/>
            <a:ext cx="73152" cy="89611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57400" y="4096512"/>
            <a:ext cx="8778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4"/>
                </a:solidFill>
                <a:latin typeface="Aptos Display"/>
              </a:defRPr>
            </a:pPr>
            <a:r>
              <a:t>Link-State Update (LSU)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4535424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Carry LSAs to build/update the LSDB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" y="5010912"/>
            <a:ext cx="914400" cy="347472"/>
          </a:xfrm>
          <a:prstGeom prst="roundRect">
            <a:avLst/>
          </a:prstGeom>
          <a:solidFill>
            <a:srgbClr val="F2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010912"/>
            <a:ext cx="9144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6A4C93"/>
                </a:solidFill>
                <a:latin typeface="Aptos"/>
              </a:defRPr>
            </a:pPr>
            <a:r>
              <a:t>Type 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74519" y="4992624"/>
            <a:ext cx="9098280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874519" y="4992624"/>
            <a:ext cx="73152" cy="896112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5120640"/>
            <a:ext cx="8778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4"/>
                </a:solidFill>
                <a:latin typeface="Aptos Display"/>
              </a:defRPr>
            </a:pPr>
            <a:r>
              <a:t>Link-State Acknowledgement (LSAck)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559552"/>
            <a:ext cx="8778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Acknowledge LSAs for reliability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03320" y="6080760"/>
            <a:ext cx="4754880" cy="347472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03320" y="6080760"/>
            <a:ext cx="47548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976D2"/>
                </a:solidFill>
                <a:latin typeface="Aptos"/>
              </a:defRPr>
            </a:pPr>
            <a:r>
              <a:t>Easy memory: H → D → R → U → 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11. Type 1 — Hello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976D2"/>
                </a:solidFill>
                <a:latin typeface="Aptos"/>
              </a:defRPr>
            </a:pPr>
            <a:r>
              <a:t>MESSAGE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3474720" cy="1371600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73152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042416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Main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481328"/>
            <a:ext cx="31546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t>A router uses Hello packets to introduce itself, discover neighbors, and maintain neighbor relationships.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60320"/>
            <a:ext cx="34747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560320"/>
            <a:ext cx="73152" cy="141732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688336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Important fields shown in the figure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127248"/>
            <a:ext cx="3154679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440"/>
                </a:solidFill>
                <a:latin typeface="Aptos"/>
              </a:defRPr>
            </a:pPr>
            <a:r>
              <a:t>Network mask, Hello interval, Dead interval, Designated Router (DR) IP, Backup DR IP, and Neighbor IP address.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51960"/>
            <a:ext cx="3474720" cy="114300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251960"/>
            <a:ext cx="73152" cy="11430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379976"/>
            <a:ext cx="31546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Why the Dead interval?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818888"/>
            <a:ext cx="3154679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440"/>
                </a:solidFill>
                <a:latin typeface="Aptos"/>
              </a:defRPr>
            </a:pPr>
            <a:r>
              <a:t>If expected Hello packets are not received within the dead interval, the neighbor may be considered down.</a:t>
            </a:r>
          </a:p>
        </p:txBody>
      </p:sp>
      <p:sp>
        <p:nvSpPr>
          <p:cNvPr id="18" name="Oval 17"/>
          <p:cNvSpPr/>
          <p:nvPr/>
        </p:nvSpPr>
        <p:spPr>
          <a:xfrm>
            <a:off x="5010912" y="1581912"/>
            <a:ext cx="950976" cy="950976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10912" y="1591056"/>
            <a:ext cx="950976" cy="9509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R1</a:t>
            </a:r>
          </a:p>
        </p:txBody>
      </p:sp>
      <p:sp>
        <p:nvSpPr>
          <p:cNvPr id="20" name="Oval 19"/>
          <p:cNvSpPr/>
          <p:nvPr/>
        </p:nvSpPr>
        <p:spPr>
          <a:xfrm>
            <a:off x="8485632" y="1581912"/>
            <a:ext cx="950976" cy="950976"/>
          </a:xfrm>
          <a:prstGeom prst="ellipse">
            <a:avLst/>
          </a:prstGeom>
          <a:solidFill>
            <a:srgbClr val="00ACC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1591056"/>
            <a:ext cx="950976" cy="95097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R2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89320" y="2057400"/>
            <a:ext cx="2468880" cy="0"/>
          </a:xfrm>
          <a:prstGeom prst="line">
            <a:avLst/>
          </a:prstGeom>
          <a:ln w="381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12280" y="1417320"/>
            <a:ext cx="1143000" cy="347472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1417320"/>
            <a:ext cx="11430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976D2"/>
                </a:solidFill>
                <a:latin typeface="Aptos"/>
              </a:defRPr>
            </a:pPr>
            <a:r>
              <a:t>HELLO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2280" y="2423160"/>
            <a:ext cx="1143000" cy="347472"/>
          </a:xfrm>
          <a:prstGeom prst="roundRect">
            <a:avLst/>
          </a:prstGeom>
          <a:solidFill>
            <a:srgbClr val="E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2423160"/>
            <a:ext cx="11430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0ACC1"/>
                </a:solidFill>
                <a:latin typeface="Aptos"/>
              </a:defRPr>
            </a:pPr>
            <a:r>
              <a:t>HELLO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971800"/>
            <a:ext cx="19202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0F1F34"/>
                </a:solidFill>
                <a:latin typeface="Aptos"/>
              </a:defRPr>
            </a:pPr>
            <a:r>
              <a:t>R1 says: “I am here.”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2971800"/>
            <a:ext cx="22860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0F1F34"/>
                </a:solidFill>
                <a:latin typeface="Aptos"/>
              </a:defRPr>
            </a:pPr>
            <a:r>
              <a:t>R2 says: “I am here too.”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983480" y="3840480"/>
            <a:ext cx="448056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3480" y="3840480"/>
            <a:ext cx="4480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Aptos"/>
              </a:defRPr>
            </a:pPr>
            <a:r>
              <a:t>Neighbor relationship maintained by periodic Hellos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800600"/>
            <a:ext cx="5394960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A4C93"/>
                </a:solidFill>
                <a:latin typeface="Aptos"/>
              </a:defRPr>
            </a:pPr>
            <a:r>
              <a:t>Seminar tip: explain Hello as the “Are you alive and reachable?” message.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12. Type 2 — Database Description (DBD)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ACC1"/>
                </a:solidFill>
                <a:latin typeface="Aptos"/>
              </a:defRPr>
            </a:pPr>
            <a:r>
              <a:t>MESSAGE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3657600" cy="1325880"/>
          </a:xfrm>
          <a:prstGeom prst="roundRect">
            <a:avLst/>
          </a:prstGeom>
          <a:solidFill>
            <a:srgbClr val="E5F7F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73152" cy="132588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042416"/>
            <a:ext cx="3337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481328"/>
            <a:ext cx="33375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440"/>
                </a:solidFill>
                <a:latin typeface="Aptos"/>
              </a:defRPr>
            </a:pPr>
            <a:r>
              <a:t>Normally exchanged during database synchronization. It gives a summary/list of LSAs known by the router rather than carrying the full topology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514600"/>
            <a:ext cx="3657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514600"/>
            <a:ext cx="73152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642616"/>
            <a:ext cx="3337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Why summary first?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081528"/>
            <a:ext cx="33375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440"/>
                </a:solidFill>
                <a:latin typeface="Aptos"/>
              </a:defRPr>
            </a:pPr>
            <a:r>
              <a:t>The neighbor can compare the summary with its own LSDB and decide which LSAs it actually needs.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51960"/>
            <a:ext cx="3657600" cy="1143000"/>
          </a:xfrm>
          <a:prstGeom prst="roundRect">
            <a:avLst/>
          </a:prstGeom>
          <a:solidFill>
            <a:srgbClr val="F2EDF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251960"/>
            <a:ext cx="73152" cy="11430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379976"/>
            <a:ext cx="3337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4"/>
                </a:solidFill>
                <a:latin typeface="Aptos Display"/>
              </a:defRPr>
            </a:pPr>
            <a:r>
              <a:t>Flags in the figure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818888"/>
            <a:ext cx="33375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440"/>
                </a:solidFill>
                <a:latin typeface="Aptos"/>
              </a:defRPr>
            </a:pPr>
            <a:r>
              <a:t>The E, I, M, MS-related flags help control/explain the database-exchange process.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0" y="1371600"/>
            <a:ext cx="914400" cy="914400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380744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R1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0" y="1371600"/>
            <a:ext cx="914400" cy="914400"/>
          </a:xfrm>
          <a:prstGeom prst="ellipse">
            <a:avLst/>
          </a:prstGeom>
          <a:solidFill>
            <a:srgbClr val="00ACC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1380744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89320" y="1691640"/>
            <a:ext cx="2651760" cy="0"/>
          </a:xfrm>
          <a:prstGeom prst="line">
            <a:avLst/>
          </a:prstGeom>
          <a:ln w="381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5989320" y="2011680"/>
            <a:ext cx="2651760" cy="0"/>
          </a:xfrm>
          <a:prstGeom prst="line">
            <a:avLst/>
          </a:prstGeom>
          <a:ln w="38100">
            <a:solidFill>
              <a:srgbClr val="00AC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0" y="1051560"/>
            <a:ext cx="1508760" cy="347472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1051560"/>
            <a:ext cx="15087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976D2"/>
                </a:solidFill>
                <a:latin typeface="Aptos"/>
              </a:defRPr>
            </a:pPr>
            <a:r>
              <a:t>DBD summary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2331720"/>
            <a:ext cx="1508760" cy="347472"/>
          </a:xfrm>
          <a:prstGeom prst="roundRect">
            <a:avLst/>
          </a:prstGeom>
          <a:solidFill>
            <a:srgbClr val="E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331720"/>
            <a:ext cx="15087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00ACC1"/>
                </a:solidFill>
                <a:latin typeface="Aptos"/>
              </a:defRPr>
            </a:pPr>
            <a:r>
              <a:t>DBD summary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3017520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0F1F34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74920" y="3840480"/>
            <a:ext cx="4480560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3840480"/>
            <a:ext cx="44805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If something is missing/newer → use Type 3 LSR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4754880"/>
            <a:ext cx="45720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6A4C93"/>
                </a:solidFill>
                <a:latin typeface="Aptos"/>
              </a:defRPr>
            </a:pPr>
            <a:r>
              <a:t>Think: “Here is my table of contents.”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13. Type 3 — Link-State Request (LSR)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F6C00"/>
                </a:solidFill>
                <a:latin typeface="Aptos"/>
              </a:defRPr>
            </a:pPr>
            <a:r>
              <a:t>MESSAGE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14400"/>
            <a:ext cx="3749039" cy="146304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914400"/>
            <a:ext cx="73152" cy="146304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42416"/>
            <a:ext cx="342899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3428999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t>Used when a router needs a particular link-state advertisement that is missing, incomplete, or newer than the one it has.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51760"/>
            <a:ext cx="3749039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651760"/>
            <a:ext cx="73152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79776"/>
            <a:ext cx="342899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What does it request?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18688"/>
            <a:ext cx="3428999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440"/>
                </a:solidFill>
                <a:latin typeface="Aptos"/>
              </a:defRPr>
            </a:pPr>
            <a:r>
              <a:t>The figure shows fields such as Link-State Type, Link-State ID and Advertising Router.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343400"/>
            <a:ext cx="3749039" cy="10972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343400"/>
            <a:ext cx="73152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71416"/>
            <a:ext cx="342899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Simple analogy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10328"/>
            <a:ext cx="342899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440"/>
                </a:solidFill>
                <a:latin typeface="Aptos"/>
              </a:defRPr>
            </a:pPr>
            <a:r>
              <a:t>DBD says “which pages do you have?” LSR says “please send me page 7.”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0" y="1371600"/>
            <a:ext cx="914400" cy="914400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380744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R1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0" y="1371600"/>
            <a:ext cx="914400" cy="914400"/>
          </a:xfrm>
          <a:prstGeom prst="ellipse">
            <a:avLst/>
          </a:prstGeom>
          <a:solidFill>
            <a:srgbClr val="00ACC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1380744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89320" y="1828800"/>
            <a:ext cx="2651760" cy="0"/>
          </a:xfrm>
          <a:prstGeom prst="line">
            <a:avLst/>
          </a:prstGeom>
          <a:ln w="38100">
            <a:solidFill>
              <a:srgbClr val="EF6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263640" y="1234440"/>
            <a:ext cx="2103120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234440"/>
            <a:ext cx="21031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LSR: send me this LSA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788920"/>
            <a:ext cx="201168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2788920"/>
            <a:ext cx="20116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Aptos"/>
              </a:defRPr>
            </a:pPr>
            <a:r>
              <a:t>LSU carries requested LSA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5989320" y="2240280"/>
            <a:ext cx="2651760" cy="0"/>
          </a:xfrm>
          <a:prstGeom prst="line">
            <a:avLst/>
          </a:prstGeom>
          <a:ln w="38100">
            <a:solidFill>
              <a:srgbClr val="007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120640" y="3886200"/>
            <a:ext cx="43891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0F1F34"/>
                </a:solidFill>
                <a:latin typeface="Aptos"/>
              </a:defRPr>
            </a:pPr>
            <a:r>
              <a:t>Request → Update → Acknowledge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74920" y="4754880"/>
            <a:ext cx="4526280" cy="347472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4754880"/>
            <a:ext cx="45262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976D2"/>
                </a:solidFill>
                <a:latin typeface="Aptos"/>
              </a:defRPr>
            </a:pPr>
            <a:r>
              <a:t>Type 3 is a request, not the actual LSA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14. Type 4 — Link-State Update (LSU)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796B"/>
                </a:solidFill>
                <a:latin typeface="Aptos"/>
              </a:defRPr>
            </a:pPr>
            <a:r>
              <a:t>MESSAGE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3566160" cy="14173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73152" cy="1417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042416"/>
            <a:ext cx="3246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The main update message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481328"/>
            <a:ext cx="32461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t>LSU is the OSPF message used to carry one or more LSAs. It is central to building and updating the LSDB.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06040"/>
            <a:ext cx="356616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06040"/>
            <a:ext cx="73152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2734056"/>
            <a:ext cx="3246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What can it contain?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172968"/>
            <a:ext cx="32461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440"/>
                </a:solidFill>
                <a:latin typeface="Aptos"/>
              </a:defRPr>
            </a:pPr>
            <a:r>
              <a:t>The figure shows a count of LSAs followed by LSA data. The LSAs can be different kinds depending on the situation.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297680"/>
            <a:ext cx="3566160" cy="1097280"/>
          </a:xfrm>
          <a:prstGeom prst="roundRect">
            <a:avLst/>
          </a:prstGeom>
          <a:solidFill>
            <a:srgbClr val="E5F7F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297680"/>
            <a:ext cx="73152" cy="109728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4425696"/>
            <a:ext cx="32461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When sent?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864608"/>
            <a:ext cx="3246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440"/>
                </a:solidFill>
                <a:latin typeface="Aptos"/>
              </a:defRPr>
            </a:pPr>
            <a:r>
              <a:t>For synchronization and when link-state information changes and needs to be propagated.</a:t>
            </a:r>
          </a:p>
        </p:txBody>
      </p:sp>
      <p:sp>
        <p:nvSpPr>
          <p:cNvPr id="18" name="Oval 17"/>
          <p:cNvSpPr/>
          <p:nvPr/>
        </p:nvSpPr>
        <p:spPr>
          <a:xfrm>
            <a:off x="5303520" y="2377440"/>
            <a:ext cx="914400" cy="914400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386584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R1</a:t>
            </a:r>
          </a:p>
        </p:txBody>
      </p:sp>
      <p:sp>
        <p:nvSpPr>
          <p:cNvPr id="20" name="Oval 19"/>
          <p:cNvSpPr/>
          <p:nvPr/>
        </p:nvSpPr>
        <p:spPr>
          <a:xfrm>
            <a:off x="7818120" y="1097280"/>
            <a:ext cx="822960" cy="822960"/>
          </a:xfrm>
          <a:prstGeom prst="ellipse">
            <a:avLst/>
          </a:prstGeom>
          <a:solidFill>
            <a:srgbClr val="00ACC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1106424"/>
            <a:ext cx="822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R2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126480" y="1508760"/>
            <a:ext cx="1737360" cy="1234440"/>
          </a:xfrm>
          <a:prstGeom prst="line">
            <a:avLst/>
          </a:prstGeom>
          <a:ln w="38100">
            <a:solidFill>
              <a:srgbClr val="007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766559" y="1961388"/>
            <a:ext cx="64008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59" y="1961388"/>
            <a:ext cx="6400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Aptos"/>
              </a:defRPr>
            </a:pPr>
            <a:r>
              <a:t>LSU</a:t>
            </a:r>
          </a:p>
        </p:txBody>
      </p:sp>
      <p:sp>
        <p:nvSpPr>
          <p:cNvPr id="25" name="Oval 24"/>
          <p:cNvSpPr/>
          <p:nvPr/>
        </p:nvSpPr>
        <p:spPr>
          <a:xfrm>
            <a:off x="8275320" y="2788920"/>
            <a:ext cx="822960" cy="822960"/>
          </a:xfrm>
          <a:prstGeom prst="ellipse">
            <a:avLst/>
          </a:prstGeom>
          <a:solidFill>
            <a:srgbClr val="00ACC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798063"/>
            <a:ext cx="822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R3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0" y="2743200"/>
            <a:ext cx="2194560" cy="457200"/>
          </a:xfrm>
          <a:prstGeom prst="line">
            <a:avLst/>
          </a:prstGeom>
          <a:ln w="38100">
            <a:solidFill>
              <a:srgbClr val="007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995159" y="2807208"/>
            <a:ext cx="64008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5159" y="2807208"/>
            <a:ext cx="6400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Aptos"/>
              </a:defRPr>
            </a:pPr>
            <a:r>
              <a:t>LSU</a:t>
            </a:r>
          </a:p>
        </p:txBody>
      </p:sp>
      <p:sp>
        <p:nvSpPr>
          <p:cNvPr id="30" name="Oval 29"/>
          <p:cNvSpPr/>
          <p:nvPr/>
        </p:nvSpPr>
        <p:spPr>
          <a:xfrm>
            <a:off x="7086599" y="4343400"/>
            <a:ext cx="822960" cy="822960"/>
          </a:xfrm>
          <a:prstGeom prst="ellipse">
            <a:avLst/>
          </a:prstGeom>
          <a:solidFill>
            <a:srgbClr val="00ACC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599" y="4352544"/>
            <a:ext cx="82296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R4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126480" y="2743200"/>
            <a:ext cx="1005839" cy="2011680"/>
          </a:xfrm>
          <a:prstGeom prst="line">
            <a:avLst/>
          </a:prstGeom>
          <a:ln w="38100">
            <a:solidFill>
              <a:srgbClr val="007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400799" y="3584447"/>
            <a:ext cx="64008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799" y="3584447"/>
            <a:ext cx="6400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Aptos"/>
              </a:defRPr>
            </a:pPr>
            <a:r>
              <a:t>LSU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0" y="5532120"/>
            <a:ext cx="49377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0F1F34"/>
                </a:solidFill>
                <a:latin typeface="Aptos"/>
              </a:defRPr>
            </a:pPr>
            <a:r>
              <a:t>A changed LSA can be propagated to neighbors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15. Type 5 — Link-State Acknowledgement (LSAck)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A4C93"/>
                </a:solidFill>
                <a:latin typeface="Aptos"/>
              </a:defRPr>
            </a:pPr>
            <a:r>
              <a:t>MESSAGE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14400"/>
            <a:ext cx="3657600" cy="1417320"/>
          </a:xfrm>
          <a:prstGeom prst="roundRect">
            <a:avLst/>
          </a:prstGeom>
          <a:solidFill>
            <a:srgbClr val="F2EDF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914400"/>
            <a:ext cx="73152" cy="141732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42416"/>
            <a:ext cx="3337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33375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t>Provides reliability by acknowledging receipt of link-state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6576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73152" cy="13258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34056"/>
            <a:ext cx="3337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Why is it needed?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72968"/>
            <a:ext cx="333756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440"/>
                </a:solidFill>
                <a:latin typeface="Aptos"/>
              </a:defRPr>
            </a:pPr>
            <a:r>
              <a:t>OSPF must keep routers' databases synchronized. Acknowledgement helps the sender know the LSA was received.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206240"/>
            <a:ext cx="3657600" cy="123444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206240"/>
            <a:ext cx="73152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334255"/>
            <a:ext cx="3337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Simple analogy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73168"/>
            <a:ext cx="333756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t>LSU = “Here is the update.”  LSAck = “Received.”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0" y="1463040"/>
            <a:ext cx="914400" cy="914400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472184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R1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0" y="1463040"/>
            <a:ext cx="914400" cy="914400"/>
          </a:xfrm>
          <a:prstGeom prst="ellipse">
            <a:avLst/>
          </a:prstGeom>
          <a:solidFill>
            <a:srgbClr val="00ACC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1472184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R2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89320" y="1828800"/>
            <a:ext cx="2651760" cy="0"/>
          </a:xfrm>
          <a:prstGeom prst="line">
            <a:avLst/>
          </a:prstGeom>
          <a:ln w="38100">
            <a:solidFill>
              <a:srgbClr val="0079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720840" y="1143000"/>
            <a:ext cx="132588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1143000"/>
            <a:ext cx="13258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Aptos"/>
              </a:defRPr>
            </a:pPr>
            <a:r>
              <a:t>LSU / LSA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5989320" y="2194560"/>
            <a:ext cx="2651760" cy="0"/>
          </a:xfrm>
          <a:prstGeom prst="line">
            <a:avLst/>
          </a:prstGeom>
          <a:ln w="38100">
            <a:solidFill>
              <a:srgbClr val="6A4C9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812280" y="2560320"/>
            <a:ext cx="1143000" cy="347472"/>
          </a:xfrm>
          <a:prstGeom prst="roundRect">
            <a:avLst/>
          </a:prstGeom>
          <a:solidFill>
            <a:srgbClr val="F2ED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2560320"/>
            <a:ext cx="11430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6A4C93"/>
                </a:solidFill>
                <a:latin typeface="Aptos"/>
              </a:defRPr>
            </a:pPr>
            <a:r>
              <a:t>LSAck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32120" y="3794760"/>
            <a:ext cx="3474720" cy="347472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32120" y="3794760"/>
            <a:ext cx="34747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976D2"/>
                </a:solidFill>
                <a:latin typeface="Aptos"/>
              </a:defRPr>
            </a:pPr>
            <a:r>
              <a:t>Five-message sequence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434840"/>
            <a:ext cx="530352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200" b="1">
                <a:solidFill>
                  <a:srgbClr val="0F1F34"/>
                </a:solidFill>
                <a:latin typeface="Aptos"/>
              </a:defRPr>
            </a:pPr>
            <a:r>
              <a:t>Hello → DBD → LSR → LSU → LSAck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16. Reading the given OSPF packet-format figure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976D2"/>
                </a:solidFill>
                <a:latin typeface="Aptos"/>
              </a:defRPr>
            </a:pPr>
            <a:r>
              <a:t>FIGURE WALKTHROUGH</a:t>
            </a:r>
          </a:p>
        </p:txBody>
      </p:sp>
      <p:pic>
        <p:nvPicPr>
          <p:cNvPr id="6" name="Picture 5" descr="10001832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14400"/>
            <a:ext cx="7452360" cy="606959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92440" y="914400"/>
            <a:ext cx="3520440" cy="1234440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92440" y="914400"/>
            <a:ext cx="73152" cy="12344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19" y="1042416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How to read the figure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19" y="1481328"/>
            <a:ext cx="32004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440"/>
                </a:solidFill>
                <a:latin typeface="Aptos"/>
              </a:defRPr>
            </a:pPr>
            <a:r>
              <a:t>The top-left is the common OSPF header. The other boxes show message-specific fields for Types 1–5.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423160"/>
            <a:ext cx="3520440" cy="1325880"/>
          </a:xfrm>
          <a:prstGeom prst="roundRect">
            <a:avLst/>
          </a:prstGeom>
          <a:solidFill>
            <a:srgbClr val="E5F7F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2423160"/>
            <a:ext cx="73152" cy="132588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2551176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Common header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990088"/>
            <a:ext cx="32004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Version, Type, Message Length, Source Router IP address, Area Identification, Checksum, Authentication Type and Authentication.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4023360"/>
            <a:ext cx="3520440" cy="11430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4023360"/>
            <a:ext cx="73152" cy="1143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4151376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LS general header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4590288"/>
            <a:ext cx="320040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LS Age, LS ID, Advertising Router, LS Sequence Number, LS Checksum and Length identify/version the LSA.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5440680"/>
            <a:ext cx="3520440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5440680"/>
            <a:ext cx="35204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The same picture is attached here so you can explain it directly in the seminar.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17. Figure explained — Types 1, 2 and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976D2"/>
                </a:solidFill>
                <a:latin typeface="Aptos"/>
              </a:defRPr>
            </a:pPr>
            <a:r>
              <a:t>PACKET FORMATS</a:t>
            </a:r>
          </a:p>
        </p:txBody>
      </p:sp>
      <p:pic>
        <p:nvPicPr>
          <p:cNvPr id="6" name="Picture 5" descr="10001832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5989320" cy="48780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914400"/>
            <a:ext cx="4892040" cy="1325880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20840" y="914400"/>
            <a:ext cx="73152" cy="13258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042416"/>
            <a:ext cx="4572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Type 1 — Hello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481328"/>
            <a:ext cx="457200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The figure shows Network Mask, Hello Interval, flags, Priority, Dead Interval, Designated Router IP, Backup DR IP and Neighbor IP address. These support neighbor discovery/maintenance and DR election.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468880"/>
            <a:ext cx="4892040" cy="1234440"/>
          </a:xfrm>
          <a:prstGeom prst="roundRect">
            <a:avLst/>
          </a:prstGeom>
          <a:solidFill>
            <a:srgbClr val="E5F7F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2468880"/>
            <a:ext cx="73152" cy="123444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596896"/>
            <a:ext cx="4572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Type 2 — Database Description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035808"/>
            <a:ext cx="45720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Contains a Message Sequence Number and a Link-State General Header. Its job is to summarize LSDB information during synchronization.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3931920"/>
            <a:ext cx="4892040" cy="123444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20840" y="3931920"/>
            <a:ext cx="73152" cy="123444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4059935"/>
            <a:ext cx="4572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Type 3 — Link-State 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498848"/>
            <a:ext cx="45720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Contains Link-State Type, Link-State ID and Advertising Router. These fields identify the specific LSA being requested.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5486400"/>
            <a:ext cx="452628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5486400"/>
            <a:ext cx="45262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Aptos"/>
              </a:defRPr>
            </a:pPr>
            <a:r>
              <a:t>Read the picture as: discover → compare databases → request what is missing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18. Figure explained — Types 4 and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796B"/>
                </a:solidFill>
                <a:latin typeface="Aptos"/>
              </a:defRPr>
            </a:pPr>
            <a:r>
              <a:t>PACKET FORMATS</a:t>
            </a:r>
          </a:p>
        </p:txBody>
      </p:sp>
      <p:pic>
        <p:nvPicPr>
          <p:cNvPr id="6" name="Picture 5" descr="10001832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14400"/>
            <a:ext cx="5989320" cy="48780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720840" y="914400"/>
            <a:ext cx="4892040" cy="150876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20840" y="914400"/>
            <a:ext cx="73152" cy="1508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042416"/>
            <a:ext cx="4572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Type 4 — Link-State Update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1481328"/>
            <a:ext cx="457200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440"/>
                </a:solidFill>
                <a:latin typeface="Aptos"/>
              </a:defRPr>
            </a:pPr>
            <a:r>
              <a:t>The figure shows the Number of Link-State Advertisements, followed by the Link-State General Header and the Link-State Advertisement(s). This is how OSPF carries actual LSA information.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697480"/>
            <a:ext cx="4892040" cy="1417320"/>
          </a:xfrm>
          <a:prstGeom prst="roundRect">
            <a:avLst/>
          </a:prstGeom>
          <a:solidFill>
            <a:srgbClr val="F2EDF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720840" y="2697480"/>
            <a:ext cx="73152" cy="141732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825496"/>
            <a:ext cx="4572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Type 5 — Link-State Acknowledgement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264408"/>
            <a:ext cx="45720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440"/>
                </a:solidFill>
                <a:latin typeface="Aptos"/>
              </a:defRPr>
            </a:pPr>
            <a:r>
              <a:t>Contains the Link-State General Header. It confirms receipt of link-state information and supports reliable database synchronization.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4389120"/>
            <a:ext cx="4892040" cy="1051560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20840" y="4389120"/>
            <a:ext cx="73152" cy="105156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03720" y="4517136"/>
            <a:ext cx="4572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4"/>
                </a:solidFill>
                <a:latin typeface="Aptos Display"/>
              </a:defRPr>
            </a:pPr>
            <a:r>
              <a:t>General header fields to point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956048"/>
            <a:ext cx="457200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LS Age • LS ID • Advertising Router • Sequence Number • Checksum • Length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5715000"/>
            <a:ext cx="4526280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5715000"/>
            <a:ext cx="45262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Update carries the information → Acknowledgement confirms 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19. Common OSPF header — what the top-left box means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ACC1"/>
                </a:solidFill>
                <a:latin typeface="Aptos"/>
              </a:defRPr>
            </a:pPr>
            <a:r>
              <a:t>HEADER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73152" cy="10058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042416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4"/>
                </a:solidFill>
                <a:latin typeface="Aptos Display"/>
              </a:defRPr>
            </a:pPr>
            <a:r>
              <a:t>Version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481328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A3440"/>
                </a:solidFill>
                <a:latin typeface="Aptos"/>
              </a:defRPr>
            </a:pPr>
            <a:r>
              <a:t>Which OSPF version format is being used.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914400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914400"/>
            <a:ext cx="73152" cy="100584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042416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4"/>
                </a:solidFill>
                <a:latin typeface="Aptos Display"/>
              </a:defRPr>
            </a:pPr>
            <a:r>
              <a:t>Type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481328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A3440"/>
                </a:solidFill>
                <a:latin typeface="Aptos"/>
              </a:defRPr>
            </a:pPr>
            <a:r>
              <a:t>Identifies the OSPF message: 1–5.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48840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148840"/>
            <a:ext cx="73152" cy="100584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276856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4"/>
                </a:solidFill>
                <a:latin typeface="Aptos Display"/>
              </a:defRPr>
            </a:pPr>
            <a:r>
              <a:t>Message Length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2715768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A3440"/>
                </a:solidFill>
                <a:latin typeface="Aptos"/>
              </a:defRPr>
            </a:pPr>
            <a:r>
              <a:t>Total length of the OSPF packet.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148840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148840"/>
            <a:ext cx="73152" cy="100584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276856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4"/>
                </a:solidFill>
                <a:latin typeface="Aptos Display"/>
              </a:defRPr>
            </a:pPr>
            <a:r>
              <a:t>Source Router 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715768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A3440"/>
                </a:solidFill>
                <a:latin typeface="Aptos"/>
              </a:defRPr>
            </a:pPr>
            <a:r>
              <a:t>IP address of the router sending the OSPF message.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383280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383280"/>
            <a:ext cx="73152" cy="100584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3511296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4"/>
                </a:solidFill>
                <a:latin typeface="Aptos Display"/>
              </a:defRPr>
            </a:pPr>
            <a:r>
              <a:t>Area 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3950208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A3440"/>
                </a:solidFill>
                <a:latin typeface="Aptos"/>
              </a:defRPr>
            </a:pPr>
            <a:r>
              <a:t>Identifies the OSPF area in which the packet is used.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383280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383280"/>
            <a:ext cx="73152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511296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4"/>
                </a:solidFill>
                <a:latin typeface="Aptos Display"/>
              </a:defRPr>
            </a:pPr>
            <a:r>
              <a:t>Checksum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950208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A3440"/>
                </a:solidFill>
                <a:latin typeface="Aptos"/>
              </a:defRPr>
            </a:pPr>
            <a:r>
              <a:t>Helps detect errors in the OSPF packet.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617720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617720"/>
            <a:ext cx="73152" cy="10058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4745736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4"/>
                </a:solidFill>
                <a:latin typeface="Aptos Display"/>
              </a:defRPr>
            </a:pPr>
            <a:r>
              <a:t>Authentication 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" y="5184648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A3440"/>
                </a:solidFill>
                <a:latin typeface="Aptos"/>
              </a:defRPr>
            </a:pPr>
            <a:r>
              <a:t>Indicates whether/how authentication is used.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617720"/>
            <a:ext cx="52120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4617720"/>
            <a:ext cx="73152" cy="10058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4745736"/>
            <a:ext cx="4892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1F34"/>
                </a:solidFill>
                <a:latin typeface="Aptos Display"/>
              </a:defRPr>
            </a:pPr>
            <a:r>
              <a:t>Authentication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184648"/>
            <a:ext cx="4892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A3440"/>
                </a:solidFill>
                <a:latin typeface="Aptos"/>
              </a:defRPr>
            </a:pPr>
            <a:r>
              <a:t>Authentication-related data.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057400" y="5989320"/>
            <a:ext cx="8138160" cy="347472"/>
          </a:xfrm>
          <a:prstGeom prst="roundRect">
            <a:avLst/>
          </a:prstGeom>
          <a:solidFill>
            <a:srgbClr val="E8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057400" y="5989320"/>
            <a:ext cx="81381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1976D2"/>
                </a:solidFill>
                <a:latin typeface="Aptos"/>
              </a:defRPr>
            </a:pPr>
            <a:r>
              <a:t>Seminar shortcut: common header tells “who, what, where, how long, and is it valid?”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20. OSPF = basic link-state algorithm + powerful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A4C93"/>
                </a:solidFill>
                <a:latin typeface="Aptos"/>
              </a:defRPr>
            </a:pPr>
            <a:r>
              <a:t>ADVANCED FEATURES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3520440" cy="1828800"/>
          </a:xfrm>
          <a:prstGeom prst="roundRect">
            <a:avLst/>
          </a:prstGeom>
          <a:solidFill>
            <a:srgbClr val="F2EDF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73152" cy="18288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042416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1. Authentication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481328"/>
            <a:ext cx="32004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440"/>
                </a:solidFill>
                <a:latin typeface="Aptos"/>
              </a:defRPr>
            </a:pPr>
            <a:r>
              <a:t>OSPF can authenticate routing messages so routers can verify that routing information comes from an acceptable source. This helps protect routing exchanges.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914400"/>
            <a:ext cx="3520440" cy="1828800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914400"/>
            <a:ext cx="73152" cy="1828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042416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2. Hierarchy / Areas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481328"/>
            <a:ext cx="32004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440"/>
                </a:solidFill>
                <a:latin typeface="Aptos"/>
              </a:defRPr>
            </a:pPr>
            <a:r>
              <a:t>A large OSPF network can be divided into routing areas. This reduces the amount of topology information every router needs to handle.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914400"/>
            <a:ext cx="3520440" cy="18288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914400"/>
            <a:ext cx="73152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042416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3. Load balancing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481328"/>
            <a:ext cx="32004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440"/>
                </a:solidFill>
                <a:latin typeface="Aptos"/>
              </a:defRPr>
            </a:pPr>
            <a:r>
              <a:t>When multiple routes have the same lowest cost, OSPF can use multiple equal-cost paths, improving utilization and resilience.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54680"/>
            <a:ext cx="10927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154680"/>
            <a:ext cx="73152" cy="150876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282696"/>
            <a:ext cx="106070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1F34"/>
                </a:solidFill>
                <a:latin typeface="Aptos Display"/>
              </a:defRPr>
            </a:pPr>
            <a:r>
              <a:t>Why these features matter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3721608"/>
            <a:ext cx="10607040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t>A simple shortest-path algorithm works for a small graph. Real networks need security, scalability and resilience. Authentication protects control traffic; areas control scale; equal-cost multipath uses available capacity.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08760" y="5257800"/>
            <a:ext cx="9144000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5257800"/>
            <a:ext cx="914400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Remember: OSPF is not just Dijkstra — it is Dijkstra + database synchronization + hierarchy + reliability + security features.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21. OSPF hierarchy — routing areas and border routers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1976D2"/>
                </a:solidFill>
                <a:latin typeface="Aptos"/>
              </a:defRPr>
            </a:pPr>
            <a:r>
              <a:t>AREAS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3383280" cy="1417320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914400"/>
            <a:ext cx="73152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042416"/>
            <a:ext cx="30632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Why divide into areas?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481328"/>
            <a:ext cx="306324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3440"/>
                </a:solidFill>
                <a:latin typeface="Aptos"/>
              </a:defRPr>
            </a:pPr>
            <a:r>
              <a:t>In a large network, keeping every router informed about every topology detail creates overhead. Areas provide hierarchy and limit the scope of detailed link-state information.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788920"/>
            <a:ext cx="1828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1976D2"/>
                </a:solidFill>
                <a:latin typeface="Aptos"/>
              </a:defRPr>
            </a:pPr>
            <a:r>
              <a:t>AREA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88920"/>
            <a:ext cx="1828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00796B"/>
                </a:solidFill>
                <a:latin typeface="Aptos"/>
              </a:defRPr>
            </a:pPr>
            <a:r>
              <a:t>AREA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788920"/>
            <a:ext cx="18288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6A4C93"/>
                </a:solidFill>
                <a:latin typeface="Aptos"/>
              </a:defRPr>
            </a:pPr>
            <a:r>
              <a:t>AREA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3154680"/>
            <a:ext cx="246888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527048" y="3721607"/>
            <a:ext cx="512064" cy="512064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27048" y="3730751"/>
            <a:ext cx="512064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R1</a:t>
            </a:r>
          </a:p>
        </p:txBody>
      </p:sp>
      <p:sp>
        <p:nvSpPr>
          <p:cNvPr id="16" name="Oval 15"/>
          <p:cNvSpPr/>
          <p:nvPr/>
        </p:nvSpPr>
        <p:spPr>
          <a:xfrm>
            <a:off x="2212848" y="3995927"/>
            <a:ext cx="512064" cy="512064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12848" y="4005071"/>
            <a:ext cx="512064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R2</a:t>
            </a:r>
          </a:p>
        </p:txBody>
      </p:sp>
      <p:sp>
        <p:nvSpPr>
          <p:cNvPr id="18" name="Oval 17"/>
          <p:cNvSpPr/>
          <p:nvPr/>
        </p:nvSpPr>
        <p:spPr>
          <a:xfrm>
            <a:off x="2898648" y="3721607"/>
            <a:ext cx="512064" cy="512064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98648" y="3730751"/>
            <a:ext cx="512064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154680"/>
            <a:ext cx="246888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9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44568" y="3721607"/>
            <a:ext cx="512064" cy="512064"/>
          </a:xfrm>
          <a:prstGeom prst="ellipse">
            <a:avLst/>
          </a:prstGeom>
          <a:solidFill>
            <a:srgbClr val="00796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3730751"/>
            <a:ext cx="512064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R1</a:t>
            </a:r>
          </a:p>
        </p:txBody>
      </p:sp>
      <p:sp>
        <p:nvSpPr>
          <p:cNvPr id="23" name="Oval 22"/>
          <p:cNvSpPr/>
          <p:nvPr/>
        </p:nvSpPr>
        <p:spPr>
          <a:xfrm>
            <a:off x="5230368" y="3995927"/>
            <a:ext cx="512064" cy="512064"/>
          </a:xfrm>
          <a:prstGeom prst="ellipse">
            <a:avLst/>
          </a:prstGeom>
          <a:solidFill>
            <a:srgbClr val="00796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0368" y="4005071"/>
            <a:ext cx="512064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R2</a:t>
            </a:r>
          </a:p>
        </p:txBody>
      </p:sp>
      <p:sp>
        <p:nvSpPr>
          <p:cNvPr id="25" name="Oval 24"/>
          <p:cNvSpPr/>
          <p:nvPr/>
        </p:nvSpPr>
        <p:spPr>
          <a:xfrm>
            <a:off x="5916168" y="3721607"/>
            <a:ext cx="512064" cy="512064"/>
          </a:xfrm>
          <a:prstGeom prst="ellipse">
            <a:avLst/>
          </a:prstGeom>
          <a:solidFill>
            <a:srgbClr val="00796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16168" y="3730751"/>
            <a:ext cx="512064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3154680"/>
            <a:ext cx="246888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653528" y="3721607"/>
            <a:ext cx="512064" cy="512064"/>
          </a:xfrm>
          <a:prstGeom prst="ellipse">
            <a:avLst/>
          </a:prstGeom>
          <a:solidFill>
            <a:srgbClr val="6A4C9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53528" y="3730751"/>
            <a:ext cx="512064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R1</a:t>
            </a:r>
          </a:p>
        </p:txBody>
      </p:sp>
      <p:sp>
        <p:nvSpPr>
          <p:cNvPr id="30" name="Oval 29"/>
          <p:cNvSpPr/>
          <p:nvPr/>
        </p:nvSpPr>
        <p:spPr>
          <a:xfrm>
            <a:off x="8339328" y="3995927"/>
            <a:ext cx="512064" cy="512064"/>
          </a:xfrm>
          <a:prstGeom prst="ellipse">
            <a:avLst/>
          </a:prstGeom>
          <a:solidFill>
            <a:srgbClr val="6A4C9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8" y="4005071"/>
            <a:ext cx="512064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R2</a:t>
            </a:r>
          </a:p>
        </p:txBody>
      </p:sp>
      <p:sp>
        <p:nvSpPr>
          <p:cNvPr id="32" name="Oval 31"/>
          <p:cNvSpPr/>
          <p:nvPr/>
        </p:nvSpPr>
        <p:spPr>
          <a:xfrm>
            <a:off x="9025128" y="3721607"/>
            <a:ext cx="512064" cy="512064"/>
          </a:xfrm>
          <a:prstGeom prst="ellipse">
            <a:avLst/>
          </a:prstGeom>
          <a:solidFill>
            <a:srgbClr val="6A4C93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25128" y="3730751"/>
            <a:ext cx="512064" cy="5120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R3</a:t>
            </a:r>
          </a:p>
        </p:txBody>
      </p:sp>
      <p:sp>
        <p:nvSpPr>
          <p:cNvPr id="34" name="Oval 33"/>
          <p:cNvSpPr/>
          <p:nvPr/>
        </p:nvSpPr>
        <p:spPr>
          <a:xfrm>
            <a:off x="3520439" y="3611880"/>
            <a:ext cx="914400" cy="914400"/>
          </a:xfrm>
          <a:prstGeom prst="ellipse">
            <a:avLst/>
          </a:prstGeom>
          <a:solidFill>
            <a:srgbClr val="EF6C00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39" y="3621024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ABR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3657600" y="4069080"/>
            <a:ext cx="45720" cy="0"/>
          </a:xfrm>
          <a:prstGeom prst="line">
            <a:avLst/>
          </a:prstGeom>
          <a:ln w="38100">
            <a:solidFill>
              <a:srgbClr val="EF6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251960" y="4069080"/>
            <a:ext cx="0" cy="0"/>
          </a:xfrm>
          <a:prstGeom prst="line">
            <a:avLst/>
          </a:prstGeom>
          <a:ln w="38100">
            <a:solidFill>
              <a:srgbClr val="EF6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4434840" y="4069080"/>
            <a:ext cx="320040" cy="0"/>
          </a:xfrm>
          <a:prstGeom prst="line">
            <a:avLst/>
          </a:prstGeom>
          <a:ln w="38100">
            <a:solidFill>
              <a:srgbClr val="EF6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921240" y="3108960"/>
            <a:ext cx="1691640" cy="2011680"/>
          </a:xfrm>
          <a:prstGeom prst="roundRect">
            <a:avLst/>
          </a:prstGeom>
          <a:solidFill>
            <a:srgbClr val="FFF3E0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921240" y="3108960"/>
            <a:ext cx="73152" cy="201168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4119" y="3236976"/>
            <a:ext cx="13716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F34"/>
                </a:solidFill>
                <a:latin typeface="Aptos Display"/>
              </a:defRPr>
            </a:pPr>
            <a:r>
              <a:t>Border / ABR idea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04119" y="3675887"/>
            <a:ext cx="137160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A3440"/>
                </a:solidFill>
                <a:latin typeface="Aptos"/>
              </a:defRPr>
            </a:pPr>
            <a:r>
              <a:t>A border router connects areas and can represent/reach information from one area to another. It helps keep area details from exploding across the whole network.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60520" y="5577840"/>
            <a:ext cx="338328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60520" y="5577840"/>
            <a:ext cx="338328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Aptos"/>
              </a:defRPr>
            </a:pPr>
            <a:r>
              <a:t>Hierarchy = better scalability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22. Equal-cost load balancing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2E7D32"/>
                </a:solidFill>
                <a:latin typeface="Aptos"/>
              </a:defRPr>
            </a:pPr>
            <a:r>
              <a:t>ADVANCED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14400"/>
            <a:ext cx="3520440" cy="137160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914400"/>
            <a:ext cx="73152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042416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What is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481328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t>If two or more routes have the same lowest OSPF cost, the router can keep multiple equal-cost paths.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60320"/>
            <a:ext cx="3520440" cy="1371600"/>
          </a:xfrm>
          <a:prstGeom prst="roundRect">
            <a:avLst/>
          </a:prstGeom>
          <a:solidFill>
            <a:srgbClr val="E8F2FD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560320"/>
            <a:ext cx="73152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88336"/>
            <a:ext cx="32004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1F34"/>
                </a:solidFill>
                <a:latin typeface="Aptos Display"/>
              </a:defRPr>
            </a:pPr>
            <a:r>
              <a:t>Why useful?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27248"/>
            <a:ext cx="3200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A3440"/>
                </a:solidFill>
                <a:latin typeface="Aptos"/>
              </a:defRPr>
            </a:pPr>
            <a:r>
              <a:t>Traffic can be distributed across available paths, while another path can continue to carry traffic if one path fails.</a:t>
            </a:r>
          </a:p>
        </p:txBody>
      </p:sp>
      <p:sp>
        <p:nvSpPr>
          <p:cNvPr id="14" name="Oval 13"/>
          <p:cNvSpPr/>
          <p:nvPr/>
        </p:nvSpPr>
        <p:spPr>
          <a:xfrm>
            <a:off x="4389120" y="2514600"/>
            <a:ext cx="914400" cy="914400"/>
          </a:xfrm>
          <a:prstGeom prst="ellipse">
            <a:avLst/>
          </a:prstGeom>
          <a:solidFill>
            <a:srgbClr val="1976D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2523744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0" y="1188720"/>
            <a:ext cx="914400" cy="914400"/>
          </a:xfrm>
          <a:prstGeom prst="ellipse">
            <a:avLst/>
          </a:prstGeom>
          <a:solidFill>
            <a:srgbClr val="00ACC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197864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0" y="3840480"/>
            <a:ext cx="914400" cy="914400"/>
          </a:xfrm>
          <a:prstGeom prst="ellipse">
            <a:avLst/>
          </a:prstGeom>
          <a:solidFill>
            <a:srgbClr val="00796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3849624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0" name="Oval 19"/>
          <p:cNvSpPr/>
          <p:nvPr/>
        </p:nvSpPr>
        <p:spPr>
          <a:xfrm>
            <a:off x="9418320" y="2514600"/>
            <a:ext cx="914400" cy="91440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2523744"/>
            <a:ext cx="914400" cy="9144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5257800" y="1874519"/>
            <a:ext cx="1645920" cy="868681"/>
          </a:xfrm>
          <a:prstGeom prst="line">
            <a:avLst/>
          </a:prstGeom>
          <a:ln w="381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726679" y="1874519"/>
            <a:ext cx="1737361" cy="868681"/>
          </a:xfrm>
          <a:prstGeom prst="line">
            <a:avLst/>
          </a:prstGeom>
          <a:ln w="381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257800" y="3200400"/>
            <a:ext cx="1645920" cy="868680"/>
          </a:xfrm>
          <a:prstGeom prst="line">
            <a:avLst/>
          </a:prstGeom>
          <a:ln w="381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726679" y="3200400"/>
            <a:ext cx="1737361" cy="868680"/>
          </a:xfrm>
          <a:prstGeom prst="line">
            <a:avLst/>
          </a:prstGeom>
          <a:ln w="38100">
            <a:solidFill>
              <a:srgbClr val="6470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897880" y="1874519"/>
            <a:ext cx="822960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1874519"/>
            <a:ext cx="8229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cost 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1874519"/>
            <a:ext cx="822960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874519"/>
            <a:ext cx="8229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cost 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97880" y="3886200"/>
            <a:ext cx="822960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97880" y="3886200"/>
            <a:ext cx="8229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cost 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886200"/>
            <a:ext cx="822960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886200"/>
            <a:ext cx="82296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cost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5166360"/>
            <a:ext cx="2834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0F1F34"/>
                </a:solidFill>
                <a:latin typeface="Aptos"/>
              </a:defRPr>
            </a:pPr>
            <a:r>
              <a:t>A → B → D = 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166360"/>
            <a:ext cx="28346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0F1F34"/>
                </a:solidFill>
                <a:latin typeface="Aptos"/>
              </a:defRPr>
            </a:pPr>
            <a:r>
              <a:t>A → C → D = 10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0" y="5806440"/>
            <a:ext cx="438912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0" y="5806440"/>
            <a:ext cx="43891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Aptos"/>
              </a:defRPr>
            </a:pPr>
            <a:r>
              <a:t>Both are equal-cost → OSPF can use both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23. OSPF vs RIP — easy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EF6C00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960120"/>
            <a:ext cx="2926080" cy="502920"/>
          </a:xfrm>
          <a:prstGeom prst="round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960120"/>
            <a:ext cx="29260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960120"/>
            <a:ext cx="3840480" cy="502920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960120"/>
            <a:ext cx="3840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OSPF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960120"/>
            <a:ext cx="3840480" cy="502920"/>
          </a:xfrm>
          <a:prstGeom prst="round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20" y="960120"/>
            <a:ext cx="3840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RIP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1508760"/>
            <a:ext cx="29260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1536192"/>
            <a:ext cx="27797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F34"/>
                </a:solidFill>
                <a:latin typeface="Aptos"/>
              </a:defRPr>
            </a:pPr>
            <a:r>
              <a:t>Routing type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1508760"/>
            <a:ext cx="38404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93592" y="1536192"/>
            <a:ext cx="36941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Link-state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20" y="1508760"/>
            <a:ext cx="38404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4072" y="1536192"/>
            <a:ext cx="36941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Distance-vector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1984248"/>
            <a:ext cx="2926080" cy="457200"/>
          </a:xfrm>
          <a:prstGeom prst="rect">
            <a:avLst/>
          </a:prstGeom>
          <a:solidFill>
            <a:srgbClr val="EEF3F8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011679"/>
            <a:ext cx="27797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F34"/>
                </a:solidFill>
                <a:latin typeface="Aptos"/>
              </a:defRPr>
            </a:pPr>
            <a:r>
              <a:t>Main idea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1984248"/>
            <a:ext cx="3840480" cy="457200"/>
          </a:xfrm>
          <a:prstGeom prst="rect">
            <a:avLst/>
          </a:prstGeom>
          <a:solidFill>
            <a:srgbClr val="EEF3F8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3592" y="2011679"/>
            <a:ext cx="36941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Build a topology map + SPF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1984248"/>
            <a:ext cx="3840480" cy="457200"/>
          </a:xfrm>
          <a:prstGeom prst="rect">
            <a:avLst/>
          </a:prstGeom>
          <a:solidFill>
            <a:srgbClr val="EEF3F8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4072" y="2011679"/>
            <a:ext cx="36941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Exchange distance/routes with neighbors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2459736"/>
            <a:ext cx="29260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" y="2487168"/>
            <a:ext cx="27797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F34"/>
                </a:solidFill>
                <a:latin typeface="Aptos"/>
              </a:defRPr>
            </a:pPr>
            <a:r>
              <a:t>Algorithm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20440" y="2459736"/>
            <a:ext cx="38404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93592" y="2487168"/>
            <a:ext cx="36941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Dijkstra / SPF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60920" y="2459736"/>
            <a:ext cx="38404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34072" y="2487168"/>
            <a:ext cx="36941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Bellman-Ford style distance-vector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2935224"/>
            <a:ext cx="2926080" cy="457200"/>
          </a:xfrm>
          <a:prstGeom prst="rect">
            <a:avLst/>
          </a:prstGeom>
          <a:solidFill>
            <a:srgbClr val="EEF3F8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" y="2962656"/>
            <a:ext cx="27797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F34"/>
                </a:solidFill>
                <a:latin typeface="Aptos"/>
              </a:defRPr>
            </a:pPr>
            <a:r>
              <a:t>Metric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20440" y="2935224"/>
            <a:ext cx="3840480" cy="457200"/>
          </a:xfrm>
          <a:prstGeom prst="rect">
            <a:avLst/>
          </a:prstGeom>
          <a:solidFill>
            <a:srgbClr val="EEF3F8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93592" y="2962656"/>
            <a:ext cx="36941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Cost (configurable; often based on link characteristics)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60920" y="2935224"/>
            <a:ext cx="3840480" cy="457200"/>
          </a:xfrm>
          <a:prstGeom prst="rect">
            <a:avLst/>
          </a:prstGeom>
          <a:solidFill>
            <a:srgbClr val="EEF3F8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34072" y="2962656"/>
            <a:ext cx="36941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Hop count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3410712"/>
            <a:ext cx="29260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" y="3438144"/>
            <a:ext cx="27797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F34"/>
                </a:solidFill>
                <a:latin typeface="Aptos"/>
              </a:defRPr>
            </a:pPr>
            <a:r>
              <a:t>Scale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20440" y="3410712"/>
            <a:ext cx="38404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93592" y="3438144"/>
            <a:ext cx="36941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Better for large networks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60920" y="3410712"/>
            <a:ext cx="38404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34072" y="3438144"/>
            <a:ext cx="36941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Simpler, smaller networks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3886200"/>
            <a:ext cx="2926080" cy="457200"/>
          </a:xfrm>
          <a:prstGeom prst="rect">
            <a:avLst/>
          </a:prstGeom>
          <a:solidFill>
            <a:srgbClr val="EEF3F8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512" y="3913632"/>
            <a:ext cx="27797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F34"/>
                </a:solidFill>
                <a:latin typeface="Aptos"/>
              </a:defRPr>
            </a:pPr>
            <a:r>
              <a:t>Convergence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20440" y="3886200"/>
            <a:ext cx="3840480" cy="457200"/>
          </a:xfrm>
          <a:prstGeom prst="rect">
            <a:avLst/>
          </a:prstGeom>
          <a:solidFill>
            <a:srgbClr val="EEF3F8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93592" y="3913632"/>
            <a:ext cx="36941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Generally faster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60920" y="3886200"/>
            <a:ext cx="3840480" cy="457200"/>
          </a:xfrm>
          <a:prstGeom prst="rect">
            <a:avLst/>
          </a:prstGeom>
          <a:solidFill>
            <a:srgbClr val="EEF3F8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34072" y="3913632"/>
            <a:ext cx="36941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Generally slower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4361688"/>
            <a:ext cx="29260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7512" y="4389120"/>
            <a:ext cx="27797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F34"/>
                </a:solidFill>
                <a:latin typeface="Aptos"/>
              </a:defRPr>
            </a:pPr>
            <a:r>
              <a:t>Hierarchy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20440" y="4361688"/>
            <a:ext cx="38404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93592" y="4389120"/>
            <a:ext cx="36941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Supports areas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60920" y="4361688"/>
            <a:ext cx="38404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34072" y="4389120"/>
            <a:ext cx="36941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No OSPF-style area hierarchy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4837176"/>
            <a:ext cx="2926080" cy="457200"/>
          </a:xfrm>
          <a:prstGeom prst="rect">
            <a:avLst/>
          </a:prstGeom>
          <a:solidFill>
            <a:srgbClr val="EEF3F8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7512" y="4864608"/>
            <a:ext cx="27797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F34"/>
                </a:solidFill>
                <a:latin typeface="Aptos"/>
              </a:defRPr>
            </a:pPr>
            <a:r>
              <a:t>Load balancing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520440" y="4837176"/>
            <a:ext cx="3840480" cy="457200"/>
          </a:xfrm>
          <a:prstGeom prst="rect">
            <a:avLst/>
          </a:prstGeom>
          <a:solidFill>
            <a:srgbClr val="EEF3F8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93592" y="4864608"/>
            <a:ext cx="36941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Equal-cost multipath supported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60920" y="4837176"/>
            <a:ext cx="3840480" cy="457200"/>
          </a:xfrm>
          <a:prstGeom prst="rect">
            <a:avLst/>
          </a:prstGeom>
          <a:solidFill>
            <a:srgbClr val="EEF3F8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34072" y="4864608"/>
            <a:ext cx="36941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More limited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5312664"/>
            <a:ext cx="29260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7512" y="5340096"/>
            <a:ext cx="27797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F34"/>
                </a:solidFill>
                <a:latin typeface="Aptos"/>
              </a:defRPr>
            </a:pPr>
            <a:r>
              <a:t>Authentication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20440" y="5312664"/>
            <a:ext cx="38404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593592" y="5340096"/>
            <a:ext cx="36941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Supported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60920" y="5312664"/>
            <a:ext cx="3840480" cy="457200"/>
          </a:xfrm>
          <a:prstGeom prst="rect">
            <a:avLst/>
          </a:prstGeom>
          <a:solidFill>
            <a:srgbClr val="FFFFFF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434072" y="5340096"/>
            <a:ext cx="36941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Supported in versions/features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4360" y="5788152"/>
            <a:ext cx="2926080" cy="457200"/>
          </a:xfrm>
          <a:prstGeom prst="rect">
            <a:avLst/>
          </a:prstGeom>
          <a:solidFill>
            <a:srgbClr val="EEF3F8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7512" y="5815584"/>
            <a:ext cx="27797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1F34"/>
                </a:solidFill>
                <a:latin typeface="Aptos"/>
              </a:defRPr>
            </a:pPr>
            <a:r>
              <a:t>OSPF IP protocol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20440" y="5788152"/>
            <a:ext cx="3840480" cy="457200"/>
          </a:xfrm>
          <a:prstGeom prst="rect">
            <a:avLst/>
          </a:prstGeom>
          <a:solidFill>
            <a:srgbClr val="EEF3F8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93592" y="5815584"/>
            <a:ext cx="36941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89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360920" y="5788152"/>
            <a:ext cx="3840480" cy="457200"/>
          </a:xfrm>
          <a:prstGeom prst="rect">
            <a:avLst/>
          </a:prstGeom>
          <a:solidFill>
            <a:srgbClr val="EEF3F8"/>
          </a:solidFill>
          <a:ln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434072" y="5815584"/>
            <a:ext cx="3694176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RIP uses UDP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737360" y="5989320"/>
            <a:ext cx="8732520" cy="347472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737360" y="5989320"/>
            <a:ext cx="873252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EF6C00"/>
                </a:solidFill>
                <a:latin typeface="Aptos"/>
              </a:defRPr>
            </a:pPr>
            <a:r>
              <a:t>One-line memory: RIP asks “how far?”; OSPF builds a “map” and finds the best path.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F34"/>
                </a:solidFill>
                <a:latin typeface="Aptos Display"/>
              </a:defRPr>
            </a:pPr>
            <a:r>
              <a:t>24. One complete OSPF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796B"/>
                </a:solidFill>
                <a:latin typeface="Aptos"/>
              </a:defRPr>
            </a:pPr>
            <a:r>
              <a:t>END-TO-END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05840"/>
            <a:ext cx="73152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133856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Hello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1572768"/>
            <a:ext cx="21945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Discover neighbors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00584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1005840"/>
            <a:ext cx="73152" cy="141732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133856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DBD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572768"/>
            <a:ext cx="21945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Compare database summaries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00584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005840"/>
            <a:ext cx="73152" cy="141732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133856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LSR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572768"/>
            <a:ext cx="21945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Request missing/newer LSAs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39" y="100584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6839" y="1005840"/>
            <a:ext cx="73152" cy="141732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9719" y="1133856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LSU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1572768"/>
            <a:ext cx="21945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Send LSAs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06324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3063240"/>
            <a:ext cx="73152" cy="141732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" y="3191256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LSAck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3630168"/>
            <a:ext cx="21945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Confirm receipt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306324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29000" y="3063240"/>
            <a:ext cx="73152" cy="1417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3191256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LSDB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3630168"/>
            <a:ext cx="21945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Build synchronized topology map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06324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063240"/>
            <a:ext cx="73152" cy="1417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191256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SPF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630168"/>
            <a:ext cx="21945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Run Dijkstra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39" y="306324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06839" y="3063240"/>
            <a:ext cx="73152" cy="14173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9719" y="3191256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1F34"/>
                </a:solidFill>
                <a:latin typeface="Aptos Display"/>
              </a:defRPr>
            </a:pPr>
            <a:r>
              <a:t>Routing table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19" y="3630168"/>
            <a:ext cx="21945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A3440"/>
                </a:solidFill>
                <a:latin typeface="Aptos"/>
              </a:defRPr>
            </a:pPr>
            <a:r>
              <a:t>Install best next hops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20240" y="5623560"/>
            <a:ext cx="8321040" cy="347472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0240" y="5623560"/>
            <a:ext cx="8321040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  <a:latin typeface="Aptos"/>
              </a:defRPr>
            </a:pPr>
            <a:r>
              <a:t>Result: routers forward packets using the lowest-cost paths known for the OSPF area.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rPr>
                <a:solidFill>
                  <a:srgbClr val="122D44"/>
                </a:solidFill>
              </a:rPr>
              <a:t>OPEN SHORTEST PATH FIRST (OSPF)  •  Seminar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9966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rPr>
                <a:solidFill>
                  <a:srgbClr val="FFFFFF"/>
                </a:solidFill>
              </a:rPr>
              <a:t>25. Final recap — what to say in the seminar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49840" y="338328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00ACC1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TAKEAWAYS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51560"/>
            <a:ext cx="3337560" cy="1143000"/>
          </a:xfrm>
          <a:prstGeom prst="roundRect">
            <a:avLst/>
          </a:prstGeom>
          <a:solidFill>
            <a:srgbClr val="183048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51560"/>
            <a:ext cx="73152" cy="11430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179576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AFF"/>
                </a:solidFill>
                <a:latin typeface="Aptos Display"/>
              </a:defRPr>
            </a:pPr>
            <a:r>
              <a:rPr>
                <a:solidFill>
                  <a:srgbClr val="FFFFFF"/>
                </a:solidFill>
              </a:rPr>
              <a:t>1. OSPF is an IGP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18488"/>
            <a:ext cx="30175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CEEF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It works inside an Autonomous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51560"/>
            <a:ext cx="3337560" cy="1143000"/>
          </a:xfrm>
          <a:prstGeom prst="roundRect">
            <a:avLst/>
          </a:prstGeom>
          <a:solidFill>
            <a:srgbClr val="183048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051560"/>
            <a:ext cx="73152" cy="1143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179576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AFF"/>
                </a:solidFill>
                <a:latin typeface="Aptos Display"/>
              </a:defRPr>
            </a:pPr>
            <a:r>
              <a:rPr>
                <a:solidFill>
                  <a:srgbClr val="FFFFFF"/>
                </a:solidFill>
              </a:rPr>
              <a:t>2. It is link-state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18488"/>
            <a:ext cx="30175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CEEF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Routers share link-state information and build an LSDB.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051560"/>
            <a:ext cx="3337560" cy="1143000"/>
          </a:xfrm>
          <a:prstGeom prst="roundRect">
            <a:avLst/>
          </a:prstGeom>
          <a:solidFill>
            <a:srgbClr val="183048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051560"/>
            <a:ext cx="73152" cy="11430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179576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AFF"/>
                </a:solidFill>
                <a:latin typeface="Aptos Display"/>
              </a:defRPr>
            </a:pPr>
            <a:r>
              <a:rPr>
                <a:solidFill>
                  <a:srgbClr val="FFFFFF"/>
                </a:solidFill>
              </a:rPr>
              <a:t>3. Cost decides the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618488"/>
            <a:ext cx="30175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CEEF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OSPF selects the lowest total link cost.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560320"/>
            <a:ext cx="3337560" cy="1143000"/>
          </a:xfrm>
          <a:prstGeom prst="roundRect">
            <a:avLst/>
          </a:prstGeom>
          <a:solidFill>
            <a:srgbClr val="183048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560320"/>
            <a:ext cx="73152" cy="11430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688336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AFF"/>
                </a:solidFill>
                <a:latin typeface="Aptos Display"/>
              </a:defRPr>
            </a:pPr>
            <a:r>
              <a:rPr>
                <a:solidFill>
                  <a:srgbClr val="FFFFFF"/>
                </a:solidFill>
              </a:rPr>
              <a:t>4. Dijkstra = SPF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127248"/>
            <a:ext cx="30175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CEEF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The shortest-path tree is calculated from the LSDB.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2560320"/>
            <a:ext cx="3337560" cy="1143000"/>
          </a:xfrm>
          <a:prstGeom prst="roundRect">
            <a:avLst/>
          </a:prstGeom>
          <a:solidFill>
            <a:srgbClr val="183048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2560320"/>
            <a:ext cx="73152" cy="1143000"/>
          </a:xfrm>
          <a:prstGeom prst="rect">
            <a:avLst/>
          </a:prstGeom>
          <a:solidFill>
            <a:srgbClr val="0079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2688336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AFF"/>
                </a:solidFill>
                <a:latin typeface="Aptos Display"/>
              </a:defRPr>
            </a:pPr>
            <a:r>
              <a:rPr>
                <a:solidFill>
                  <a:srgbClr val="FFFFFF"/>
                </a:solidFill>
              </a:rPr>
              <a:t>5. Five message types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127248"/>
            <a:ext cx="30175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CEEF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Hello, DBD, LSR, LSU, LSAck.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560320"/>
            <a:ext cx="3337560" cy="1143000"/>
          </a:xfrm>
          <a:prstGeom prst="roundRect">
            <a:avLst/>
          </a:prstGeom>
          <a:solidFill>
            <a:srgbClr val="183048"/>
          </a:solidFill>
          <a:ln w="12700">
            <a:solidFill>
              <a:srgbClr val="E0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2560320"/>
            <a:ext cx="73152" cy="1143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688336"/>
            <a:ext cx="3017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AFF"/>
                </a:solidFill>
                <a:latin typeface="Aptos Display"/>
              </a:defRPr>
            </a:pPr>
            <a:r>
              <a:rPr>
                <a:solidFill>
                  <a:srgbClr val="FFFFFF"/>
                </a:solidFill>
              </a:rPr>
              <a:t>6. Real-world features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127248"/>
            <a:ext cx="30175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CEEF8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Authentication, areas and equal-cost load balancing.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297680"/>
            <a:ext cx="59436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900" b="1">
                <a:solidFill>
                  <a:srgbClr val="AAEBF0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THE SIMPLEST WAY TO EXPLAIN OSPF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892040"/>
            <a:ext cx="973836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“First build a map of the network. Then use Dijkstra to find the cheapest paths. Finally, use those paths to forward packets.”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5897880"/>
            <a:ext cx="25603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 b="1">
                <a:solidFill>
                  <a:srgbClr val="B4E1EB"/>
                </a:solidFill>
                <a:latin typeface="Aptos"/>
              </a:defRPr>
            </a:pPr>
            <a:r>
              <a:rPr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6510528"/>
            <a:ext cx="11155680" cy="13716"/>
          </a:xfrm>
          <a:prstGeom prst="rect">
            <a:avLst/>
          </a:prstGeom>
          <a:solidFill>
            <a:srgbClr val="E0E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655624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ABECD"/>
                </a:solidFill>
                <a:latin typeface="Aptos"/>
              </a:defRPr>
            </a:pPr>
            <a:r>
              <a:rPr>
                <a:solidFill>
                  <a:srgbClr val="DCEBF5"/>
                </a:solidFill>
              </a:rPr>
              <a:t>OPEN SHORTEST PATH FIRST (OSPF)  •  Seminar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28816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07D"/>
                </a:solidFill>
              </a:defRPr>
            </a:pPr>
            <a:r>
              <a:rPr>
                <a:solidFill>
                  <a:srgbClr val="DCEBF5"/>
                </a:solidFill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